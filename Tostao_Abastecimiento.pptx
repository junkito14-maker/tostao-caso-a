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2"/>
    <p:sldId id="257" r:id="rId3"/>
    <p:sldId id="258" r:id="rId4"/>
    <p:sldId id="259" r:id="rId5"/>
    <p:sldId id="260" r:id="rId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9" d="100"/>
          <a:sy n="139" d="100"/>
        </p:scale>
        <p:origin x="804"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title>
      <c:tx>
        <c:rich>
          <a:bodyPr/>
          <a:lstStyle/>
          <a:p>
            <a:pPr>
              <a:defRPr sz="1100" b="1" i="0" u="none" strike="noStrike">
                <a:solidFill>
                  <a:srgbClr val="4E2C0E"/>
                </a:solidFill>
                <a:latin typeface="Arial"/>
              </a:defRPr>
            </a:pPr>
            <a:r>
              <a:rPr lang="es-MX" sz="1100" b="1" i="0" u="none" strike="noStrike">
                <a:solidFill>
                  <a:srgbClr val="4E2C0E"/>
                </a:solidFill>
                <a:latin typeface="Arial"/>
              </a:rPr>
              <a:t>Ahorro semanal estimado por producto ($COP)</a:t>
            </a:r>
          </a:p>
        </c:rich>
      </c:tx>
      <c:overlay val="0"/>
    </c:title>
    <c:autoTitleDeleted val="0"/>
    <c:plotArea>
      <c:layout/>
      <c:barChart>
        <c:barDir val="bar"/>
        <c:grouping val="clustered"/>
        <c:varyColors val="0"/>
        <c:ser>
          <c:idx val="0"/>
          <c:order val="0"/>
          <c:tx>
            <c:strRef>
              <c:f>Sheet1!$B$1</c:f>
              <c:strCache>
                <c:ptCount val="1"/>
                <c:pt idx="0">
                  <c:v>Ahorro semanal ($COP)</c:v>
                </c:pt>
              </c:strCache>
            </c:strRef>
          </c:tx>
          <c:spPr>
            <a:solidFill>
              <a:srgbClr val="C8942A"/>
            </a:solidFill>
            <a:effectLst/>
          </c:spPr>
          <c:invertIfNegative val="0"/>
          <c:dLbls>
            <c:numFmt formatCode="#,##0" sourceLinked="0"/>
            <c:spPr>
              <a:noFill/>
              <a:ln>
                <a:noFill/>
              </a:ln>
              <a:effectLst/>
            </c:spPr>
            <c:txPr>
              <a:bodyPr/>
              <a:lstStyle/>
              <a:p>
                <a:pPr>
                  <a:defRPr sz="900" b="0" i="0" u="none" strike="noStrike">
                    <a:solidFill>
                      <a:srgbClr val="4E2C0E"/>
                    </a:solidFill>
                    <a:latin typeface="Arial"/>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Jugo de Naranja</c:v>
                </c:pt>
                <c:pt idx="1">
                  <c:v>Cappuccino</c:v>
                </c:pt>
                <c:pt idx="2">
                  <c:v>Croissant</c:v>
                </c:pt>
                <c:pt idx="3">
                  <c:v>Cafe con Leche</c:v>
                </c:pt>
                <c:pt idx="4">
                  <c:v>Pastel de Pollo</c:v>
                </c:pt>
                <c:pt idx="5">
                  <c:v>Bunuelo</c:v>
                </c:pt>
                <c:pt idx="6">
                  <c:v>Tinto</c:v>
                </c:pt>
                <c:pt idx="7">
                  <c:v>Pan de Bono</c:v>
                </c:pt>
              </c:strCache>
            </c:strRef>
          </c:cat>
          <c:val>
            <c:numRef>
              <c:f>Sheet1!$B$2:$B$9</c:f>
              <c:numCache>
                <c:formatCode>General</c:formatCode>
                <c:ptCount val="8"/>
                <c:pt idx="0">
                  <c:v>815000</c:v>
                </c:pt>
                <c:pt idx="1">
                  <c:v>720000</c:v>
                </c:pt>
                <c:pt idx="2">
                  <c:v>625000</c:v>
                </c:pt>
                <c:pt idx="3">
                  <c:v>525000</c:v>
                </c:pt>
                <c:pt idx="4">
                  <c:v>510000</c:v>
                </c:pt>
                <c:pt idx="5">
                  <c:v>498000</c:v>
                </c:pt>
                <c:pt idx="6">
                  <c:v>326000</c:v>
                </c:pt>
                <c:pt idx="7">
                  <c:v>307000</c:v>
                </c:pt>
              </c:numCache>
            </c:numRef>
          </c:val>
          <c:extLst>
            <c:ext xmlns:c16="http://schemas.microsoft.com/office/drawing/2014/chart" uri="{C3380CC4-5D6E-409C-BE32-E72D297353CC}">
              <c16:uniqueId val="{00000000-524B-4C50-92C8-D99FF5F7F60C}"/>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444444"/>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E8E8E8"/>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444444"/>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306108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Bienvenida. Este proyecto aborda un reto clasico de retail: cuanto pedir de cada producto en cada tienda para la semana siguiente. Desarrollamos una solucion end-to-end que combina machine learning con teoria economica de inventarios.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heatmap muestra el estado de inventario HOY. El rojo no es el pasado — es el presente. 66% de las combinaciones tienda-producto tienen menos de 2 dias de stock. Este es el problema que el modelo tiene que resolver semana a semana.</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Punto clave para explicar: LightGBM no es un modelo de series de tiempo — es un modelo de regresion supervisada. Eso resuelve el problema de los 91 dias de historia. El Newsvendor es la teoria economica de 1951 que conecta la incertidumbre del modelo con la decision de negocio.</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WAPE del 26% significa que nos equivocamos en promedio en 1 de cada 4 unidades del volumen real. Para una categoria de baja demanda como cafeteria, esto es un resultado competitivo. El ahorro de $220M anuales asume que la politica optima se aplica consistentemente — el impacto real depende de la adopcion del modelo en el proceso de pedidos.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Cerrar con la vision: este no es un ejercicio academico. Cada semana que se opera sin un modelo de pronostico, hay decisiones de pedido suboptimas. El modelo esta listo para produccion — lo que queda es integrarlo al proceso de abastecimiento existente.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C1A0A"/>
        </a:solidFill>
        <a:effectLst/>
      </p:bgPr>
    </p:bg>
    <p:spTree>
      <p:nvGrpSpPr>
        <p:cNvPr id="1" name=""/>
        <p:cNvGrpSpPr/>
        <p:nvPr/>
      </p:nvGrpSpPr>
      <p:grpSpPr>
        <a:xfrm>
          <a:off x="0" y="0"/>
          <a:ext cx="0" cy="0"/>
          <a:chOff x="0" y="0"/>
          <a:chExt cx="0" cy="0"/>
        </a:xfrm>
      </p:grpSpPr>
      <p:sp>
        <p:nvSpPr>
          <p:cNvPr id="2" name="Shape 0"/>
          <p:cNvSpPr/>
          <p:nvPr/>
        </p:nvSpPr>
        <p:spPr>
          <a:xfrm>
            <a:off x="411480" y="320040"/>
            <a:ext cx="822960" cy="822960"/>
          </a:xfrm>
          <a:prstGeom prst="roundRect">
            <a:avLst>
              <a:gd name="adj" fmla="val 13333"/>
            </a:avLst>
          </a:prstGeom>
          <a:solidFill>
            <a:srgbClr val="C8942A"/>
          </a:solidFill>
          <a:ln/>
          <a:effectLst>
            <a:outerShdw blurRad="101600" dist="38100" dir="2700000" algn="bl" rotWithShape="0">
              <a:srgbClr val="000000">
                <a:alpha val="12000"/>
              </a:srgbClr>
            </a:outerShdw>
          </a:effectLst>
        </p:spPr>
        <p:txBody>
          <a:bodyPr/>
          <a:lstStyle/>
          <a:p>
            <a:endParaRPr lang="es-CO"/>
          </a:p>
        </p:txBody>
      </p:sp>
      <p:sp>
        <p:nvSpPr>
          <p:cNvPr id="3" name="Text 1"/>
          <p:cNvSpPr/>
          <p:nvPr/>
        </p:nvSpPr>
        <p:spPr>
          <a:xfrm>
            <a:off x="411480" y="292608"/>
            <a:ext cx="822960" cy="822960"/>
          </a:xfrm>
          <a:prstGeom prst="rect">
            <a:avLst/>
          </a:prstGeom>
          <a:noFill/>
          <a:ln/>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4" name="Text 2"/>
          <p:cNvSpPr/>
          <p:nvPr/>
        </p:nvSpPr>
        <p:spPr>
          <a:xfrm>
            <a:off x="1417320" y="384048"/>
            <a:ext cx="3657600" cy="411480"/>
          </a:xfrm>
          <a:prstGeom prst="rect">
            <a:avLst/>
          </a:prstGeom>
          <a:noFill/>
          <a:ln/>
        </p:spPr>
        <p:txBody>
          <a:bodyPr wrap="square" lIns="0" tIns="0" rIns="0" bIns="0" rtlCol="0" anchor="ctr"/>
          <a:lstStyle/>
          <a:p>
            <a:pPr marL="0" indent="0">
              <a:buNone/>
            </a:pPr>
            <a:r>
              <a:rPr lang="en-US" sz="1300" b="1" kern="0" spc="800" dirty="0">
                <a:solidFill>
                  <a:srgbClr val="C8942A"/>
                </a:solidFill>
                <a:latin typeface="Calibri" pitchFamily="34" charset="0"/>
                <a:ea typeface="Calibri" pitchFamily="34" charset="-122"/>
                <a:cs typeface="Calibri" pitchFamily="34" charset="-120"/>
              </a:rPr>
              <a:t>TOSTAO</a:t>
            </a:r>
            <a:endParaRPr lang="en-US" sz="1300" dirty="0"/>
          </a:p>
        </p:txBody>
      </p:sp>
      <p:sp>
        <p:nvSpPr>
          <p:cNvPr id="5" name="Text 3"/>
          <p:cNvSpPr/>
          <p:nvPr/>
        </p:nvSpPr>
        <p:spPr>
          <a:xfrm>
            <a:off x="1417320" y="749808"/>
            <a:ext cx="5029200" cy="292608"/>
          </a:xfrm>
          <a:prstGeom prst="rect">
            <a:avLst/>
          </a:prstGeom>
          <a:noFill/>
          <a:ln/>
        </p:spPr>
        <p:txBody>
          <a:bodyPr wrap="square" lIns="0" tIns="0" rIns="0" bIns="0" rtlCol="0" anchor="ctr"/>
          <a:lstStyle/>
          <a:p>
            <a:pPr marL="0" indent="0">
              <a:buNone/>
            </a:pPr>
            <a:r>
              <a:rPr lang="en-US" sz="1000" dirty="0">
                <a:solidFill>
                  <a:srgbClr val="C4A882"/>
                </a:solidFill>
                <a:latin typeface="Calibri" pitchFamily="34" charset="0"/>
                <a:ea typeface="Calibri" pitchFamily="34" charset="-122"/>
                <a:cs typeface="Calibri" pitchFamily="34" charset="-120"/>
              </a:rPr>
              <a:t>Data Scientist - Caso A</a:t>
            </a:r>
            <a:endParaRPr lang="en-US" sz="1000" dirty="0"/>
          </a:p>
        </p:txBody>
      </p:sp>
      <p:sp>
        <p:nvSpPr>
          <p:cNvPr id="6" name="Text 4"/>
          <p:cNvSpPr/>
          <p:nvPr/>
        </p:nvSpPr>
        <p:spPr>
          <a:xfrm>
            <a:off x="411480" y="1463040"/>
            <a:ext cx="5943600" cy="1645920"/>
          </a:xfrm>
          <a:prstGeom prst="rect">
            <a:avLst/>
          </a:prstGeom>
          <a:noFill/>
          <a:ln/>
        </p:spPr>
        <p:txBody>
          <a:bodyPr wrap="square" lIns="0" tIns="0" rIns="0" bIns="0"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Optimizacion de</a:t>
            </a:r>
            <a:endParaRPr lang="en-US" sz="4400" dirty="0"/>
          </a:p>
          <a:p>
            <a:pPr marL="0" indent="0">
              <a:buNone/>
            </a:pPr>
            <a:r>
              <a:rPr lang="en-US" sz="4400" b="1" dirty="0">
                <a:solidFill>
                  <a:srgbClr val="FFFFFF"/>
                </a:solidFill>
                <a:latin typeface="Cambria" pitchFamily="34" charset="0"/>
                <a:ea typeface="Cambria" pitchFamily="34" charset="-122"/>
                <a:cs typeface="Cambria" pitchFamily="34" charset="-120"/>
              </a:rPr>
              <a:t>Abastecimiento</a:t>
            </a:r>
            <a:endParaRPr lang="en-US" sz="4400" dirty="0"/>
          </a:p>
        </p:txBody>
      </p:sp>
      <p:sp>
        <p:nvSpPr>
          <p:cNvPr id="7" name="Text 5"/>
          <p:cNvSpPr/>
          <p:nvPr/>
        </p:nvSpPr>
        <p:spPr>
          <a:xfrm>
            <a:off x="411480" y="3154680"/>
            <a:ext cx="5943600" cy="822960"/>
          </a:xfrm>
          <a:prstGeom prst="rect">
            <a:avLst/>
          </a:prstGeom>
          <a:noFill/>
          <a:ln/>
        </p:spPr>
        <p:txBody>
          <a:bodyPr wrap="square" lIns="0" tIns="0" rIns="0" bIns="0" rtlCol="0" anchor="t"/>
          <a:lstStyle/>
          <a:p>
            <a:pPr marL="0" indent="0">
              <a:buNone/>
            </a:pPr>
            <a:r>
              <a:rPr lang="en-US" sz="1500" dirty="0" err="1">
                <a:solidFill>
                  <a:srgbClr val="C4A882"/>
                </a:solidFill>
                <a:latin typeface="Calibri" pitchFamily="34" charset="0"/>
                <a:ea typeface="Calibri" pitchFamily="34" charset="-122"/>
                <a:cs typeface="Calibri" pitchFamily="34" charset="-120"/>
              </a:rPr>
              <a:t>Pronóstico</a:t>
            </a:r>
            <a:r>
              <a:rPr lang="en-US" sz="1500" dirty="0">
                <a:solidFill>
                  <a:srgbClr val="C4A882"/>
                </a:solidFill>
                <a:latin typeface="Calibri" pitchFamily="34" charset="0"/>
                <a:ea typeface="Calibri" pitchFamily="34" charset="-122"/>
                <a:cs typeface="Calibri" pitchFamily="34" charset="-120"/>
              </a:rPr>
              <a:t> de demanda semanal por SKU-Tienda</a:t>
            </a:r>
            <a:endParaRPr lang="en-US" sz="1500" dirty="0"/>
          </a:p>
          <a:p>
            <a:pPr marL="0" indent="0">
              <a:buNone/>
            </a:pPr>
            <a:r>
              <a:rPr lang="en-US" sz="1500" dirty="0">
                <a:solidFill>
                  <a:srgbClr val="C4A882"/>
                </a:solidFill>
                <a:latin typeface="Calibri" pitchFamily="34" charset="0"/>
                <a:ea typeface="Calibri" pitchFamily="34" charset="-122"/>
                <a:cs typeface="Calibri" pitchFamily="34" charset="-120"/>
              </a:rPr>
              <a:t>y </a:t>
            </a:r>
            <a:r>
              <a:rPr lang="en-US" sz="1500" dirty="0" err="1">
                <a:solidFill>
                  <a:srgbClr val="C4A882"/>
                </a:solidFill>
                <a:latin typeface="Calibri" pitchFamily="34" charset="0"/>
                <a:ea typeface="Calibri" pitchFamily="34" charset="-122"/>
                <a:cs typeface="Calibri" pitchFamily="34" charset="-120"/>
              </a:rPr>
              <a:t>decisión</a:t>
            </a:r>
            <a:r>
              <a:rPr lang="en-US" sz="1500" dirty="0">
                <a:solidFill>
                  <a:srgbClr val="C4A882"/>
                </a:solidFill>
                <a:latin typeface="Calibri" pitchFamily="34" charset="0"/>
                <a:ea typeface="Calibri" pitchFamily="34" charset="-122"/>
                <a:cs typeface="Calibri" pitchFamily="34" charset="-120"/>
              </a:rPr>
              <a:t> </a:t>
            </a:r>
            <a:r>
              <a:rPr lang="en-US" sz="1500" dirty="0" err="1">
                <a:solidFill>
                  <a:srgbClr val="C4A882"/>
                </a:solidFill>
                <a:latin typeface="Calibri" pitchFamily="34" charset="0"/>
                <a:ea typeface="Calibri" pitchFamily="34" charset="-122"/>
                <a:cs typeface="Calibri" pitchFamily="34" charset="-120"/>
              </a:rPr>
              <a:t>óptima</a:t>
            </a:r>
            <a:r>
              <a:rPr lang="en-US" sz="1500" dirty="0">
                <a:solidFill>
                  <a:srgbClr val="C4A882"/>
                </a:solidFill>
                <a:latin typeface="Calibri" pitchFamily="34" charset="0"/>
                <a:ea typeface="Calibri" pitchFamily="34" charset="-122"/>
                <a:cs typeface="Calibri" pitchFamily="34" charset="-120"/>
              </a:rPr>
              <a:t> de pedido con </a:t>
            </a:r>
            <a:r>
              <a:rPr lang="en-US" sz="1500" dirty="0" err="1">
                <a:solidFill>
                  <a:srgbClr val="C4A882"/>
                </a:solidFill>
                <a:latin typeface="Calibri" pitchFamily="34" charset="0"/>
                <a:ea typeface="Calibri" pitchFamily="34" charset="-122"/>
                <a:cs typeface="Calibri" pitchFamily="34" charset="-120"/>
              </a:rPr>
              <a:t>modelo</a:t>
            </a:r>
            <a:r>
              <a:rPr lang="en-US" sz="1500">
                <a:solidFill>
                  <a:srgbClr val="C4A882"/>
                </a:solidFill>
                <a:latin typeface="Calibri" pitchFamily="34" charset="0"/>
                <a:ea typeface="Calibri" pitchFamily="34" charset="-122"/>
                <a:cs typeface="Calibri" pitchFamily="34" charset="-120"/>
              </a:rPr>
              <a:t> “Newsvendor”</a:t>
            </a:r>
            <a:endParaRPr lang="en-US" sz="1500" dirty="0"/>
          </a:p>
        </p:txBody>
      </p:sp>
      <p:sp>
        <p:nvSpPr>
          <p:cNvPr id="8" name="Shape 6"/>
          <p:cNvSpPr/>
          <p:nvPr/>
        </p:nvSpPr>
        <p:spPr>
          <a:xfrm>
            <a:off x="411480" y="4069080"/>
            <a:ext cx="8321040" cy="0"/>
          </a:xfrm>
          <a:prstGeom prst="line">
            <a:avLst/>
          </a:prstGeom>
          <a:noFill/>
          <a:ln w="19050">
            <a:solidFill>
              <a:srgbClr val="C8942A">
                <a:alpha val="60000"/>
              </a:srgbClr>
            </a:solidFill>
            <a:prstDash val="solid"/>
          </a:ln>
        </p:spPr>
        <p:txBody>
          <a:bodyPr/>
          <a:lstStyle/>
          <a:p>
            <a:endParaRPr lang="es-CO"/>
          </a:p>
        </p:txBody>
      </p:sp>
      <p:sp>
        <p:nvSpPr>
          <p:cNvPr id="9" name="Text 7"/>
          <p:cNvSpPr/>
          <p:nvPr/>
        </p:nvSpPr>
        <p:spPr>
          <a:xfrm>
            <a:off x="411480" y="4206240"/>
            <a:ext cx="1572768" cy="502920"/>
          </a:xfrm>
          <a:prstGeom prst="rect">
            <a:avLst/>
          </a:prstGeom>
          <a:noFill/>
          <a:ln/>
        </p:spPr>
        <p:txBody>
          <a:bodyPr wrap="square" lIns="0" tIns="0" rIns="0" bIns="0" rtlCol="0" anchor="ctr"/>
          <a:lstStyle/>
          <a:p>
            <a:pPr marL="0" indent="0" algn="l">
              <a:buNone/>
            </a:pPr>
            <a:r>
              <a:rPr lang="en-US" sz="2600" b="1" dirty="0">
                <a:solidFill>
                  <a:srgbClr val="C8942A"/>
                </a:solidFill>
                <a:latin typeface="Cambria" pitchFamily="34" charset="0"/>
                <a:ea typeface="Cambria" pitchFamily="34" charset="-122"/>
                <a:cs typeface="Cambria" pitchFamily="34" charset="-120"/>
              </a:rPr>
              <a:t>20</a:t>
            </a:r>
            <a:endParaRPr lang="en-US" sz="2600" dirty="0"/>
          </a:p>
        </p:txBody>
      </p:sp>
      <p:sp>
        <p:nvSpPr>
          <p:cNvPr id="10" name="Text 8"/>
          <p:cNvSpPr/>
          <p:nvPr/>
        </p:nvSpPr>
        <p:spPr>
          <a:xfrm>
            <a:off x="411480" y="4663440"/>
            <a:ext cx="1572768" cy="292608"/>
          </a:xfrm>
          <a:prstGeom prst="rect">
            <a:avLst/>
          </a:prstGeom>
          <a:noFill/>
          <a:ln/>
        </p:spPr>
        <p:txBody>
          <a:bodyPr wrap="square" lIns="0" tIns="0" rIns="0" bIns="0" rtlCol="0" anchor="t"/>
          <a:lstStyle/>
          <a:p>
            <a:pPr marL="0" indent="0" algn="l">
              <a:buNone/>
            </a:pPr>
            <a:r>
              <a:rPr lang="en-US" sz="950" dirty="0">
                <a:solidFill>
                  <a:srgbClr val="A08060"/>
                </a:solidFill>
                <a:latin typeface="Calibri" pitchFamily="34" charset="0"/>
                <a:ea typeface="Calibri" pitchFamily="34" charset="-122"/>
                <a:cs typeface="Calibri" pitchFamily="34" charset="-120"/>
              </a:rPr>
              <a:t>Tiendas</a:t>
            </a:r>
            <a:endParaRPr lang="en-US" sz="950" dirty="0"/>
          </a:p>
        </p:txBody>
      </p:sp>
      <p:sp>
        <p:nvSpPr>
          <p:cNvPr id="11" name="Text 9"/>
          <p:cNvSpPr/>
          <p:nvPr/>
        </p:nvSpPr>
        <p:spPr>
          <a:xfrm>
            <a:off x="2075688" y="4206240"/>
            <a:ext cx="1572768" cy="502920"/>
          </a:xfrm>
          <a:prstGeom prst="rect">
            <a:avLst/>
          </a:prstGeom>
          <a:noFill/>
          <a:ln/>
        </p:spPr>
        <p:txBody>
          <a:bodyPr wrap="square" lIns="0" tIns="0" rIns="0" bIns="0" rtlCol="0" anchor="ctr"/>
          <a:lstStyle/>
          <a:p>
            <a:pPr marL="0" indent="0" algn="l">
              <a:buNone/>
            </a:pPr>
            <a:r>
              <a:rPr lang="en-US" sz="2600" b="1" dirty="0">
                <a:solidFill>
                  <a:srgbClr val="C8942A"/>
                </a:solidFill>
                <a:latin typeface="Cambria" pitchFamily="34" charset="0"/>
                <a:ea typeface="Cambria" pitchFamily="34" charset="-122"/>
                <a:cs typeface="Cambria" pitchFamily="34" charset="-120"/>
              </a:rPr>
              <a:t>8</a:t>
            </a:r>
            <a:endParaRPr lang="en-US" sz="2600" dirty="0"/>
          </a:p>
        </p:txBody>
      </p:sp>
      <p:sp>
        <p:nvSpPr>
          <p:cNvPr id="12" name="Text 10"/>
          <p:cNvSpPr/>
          <p:nvPr/>
        </p:nvSpPr>
        <p:spPr>
          <a:xfrm>
            <a:off x="2075688" y="4663440"/>
            <a:ext cx="1572768" cy="292608"/>
          </a:xfrm>
          <a:prstGeom prst="rect">
            <a:avLst/>
          </a:prstGeom>
          <a:noFill/>
          <a:ln/>
        </p:spPr>
        <p:txBody>
          <a:bodyPr wrap="square" lIns="0" tIns="0" rIns="0" bIns="0" rtlCol="0" anchor="t"/>
          <a:lstStyle/>
          <a:p>
            <a:pPr marL="0" indent="0" algn="l">
              <a:buNone/>
            </a:pPr>
            <a:r>
              <a:rPr lang="en-US" sz="950" dirty="0">
                <a:solidFill>
                  <a:srgbClr val="A08060"/>
                </a:solidFill>
                <a:latin typeface="Calibri" pitchFamily="34" charset="0"/>
                <a:ea typeface="Calibri" pitchFamily="34" charset="-122"/>
                <a:cs typeface="Calibri" pitchFamily="34" charset="-120"/>
              </a:rPr>
              <a:t>Productos</a:t>
            </a:r>
            <a:endParaRPr lang="en-US" sz="950" dirty="0"/>
          </a:p>
        </p:txBody>
      </p:sp>
      <p:sp>
        <p:nvSpPr>
          <p:cNvPr id="13" name="Text 11"/>
          <p:cNvSpPr/>
          <p:nvPr/>
        </p:nvSpPr>
        <p:spPr>
          <a:xfrm>
            <a:off x="3739896" y="4206240"/>
            <a:ext cx="1572768" cy="502920"/>
          </a:xfrm>
          <a:prstGeom prst="rect">
            <a:avLst/>
          </a:prstGeom>
          <a:noFill/>
          <a:ln/>
        </p:spPr>
        <p:txBody>
          <a:bodyPr wrap="square" lIns="0" tIns="0" rIns="0" bIns="0" rtlCol="0" anchor="ctr"/>
          <a:lstStyle/>
          <a:p>
            <a:pPr marL="0" indent="0" algn="l">
              <a:buNone/>
            </a:pPr>
            <a:r>
              <a:rPr lang="en-US" sz="2600" b="1" dirty="0">
                <a:solidFill>
                  <a:srgbClr val="C8942A"/>
                </a:solidFill>
                <a:latin typeface="Cambria" pitchFamily="34" charset="0"/>
                <a:ea typeface="Cambria" pitchFamily="34" charset="-122"/>
                <a:cs typeface="Cambria" pitchFamily="34" charset="-120"/>
              </a:rPr>
              <a:t>160</a:t>
            </a:r>
            <a:endParaRPr lang="en-US" sz="2600" dirty="0"/>
          </a:p>
        </p:txBody>
      </p:sp>
      <p:sp>
        <p:nvSpPr>
          <p:cNvPr id="14" name="Text 12"/>
          <p:cNvSpPr/>
          <p:nvPr/>
        </p:nvSpPr>
        <p:spPr>
          <a:xfrm>
            <a:off x="3739896" y="4663440"/>
            <a:ext cx="1572768" cy="292608"/>
          </a:xfrm>
          <a:prstGeom prst="rect">
            <a:avLst/>
          </a:prstGeom>
          <a:noFill/>
          <a:ln/>
        </p:spPr>
        <p:txBody>
          <a:bodyPr wrap="square" lIns="0" tIns="0" rIns="0" bIns="0" rtlCol="0" anchor="t"/>
          <a:lstStyle/>
          <a:p>
            <a:pPr marL="0" indent="0" algn="l">
              <a:buNone/>
            </a:pPr>
            <a:r>
              <a:rPr lang="en-US" sz="950" dirty="0">
                <a:solidFill>
                  <a:srgbClr val="A08060"/>
                </a:solidFill>
                <a:latin typeface="Calibri" pitchFamily="34" charset="0"/>
                <a:ea typeface="Calibri" pitchFamily="34" charset="-122"/>
                <a:cs typeface="Calibri" pitchFamily="34" charset="-120"/>
              </a:rPr>
              <a:t>Series SKU-Tienda</a:t>
            </a:r>
            <a:endParaRPr lang="en-US" sz="950" dirty="0"/>
          </a:p>
        </p:txBody>
      </p:sp>
      <p:sp>
        <p:nvSpPr>
          <p:cNvPr id="15" name="Text 13"/>
          <p:cNvSpPr/>
          <p:nvPr/>
        </p:nvSpPr>
        <p:spPr>
          <a:xfrm>
            <a:off x="5404104" y="4206240"/>
            <a:ext cx="1572768" cy="502920"/>
          </a:xfrm>
          <a:prstGeom prst="rect">
            <a:avLst/>
          </a:prstGeom>
          <a:noFill/>
          <a:ln/>
        </p:spPr>
        <p:txBody>
          <a:bodyPr wrap="square" lIns="0" tIns="0" rIns="0" bIns="0" rtlCol="0" anchor="ctr"/>
          <a:lstStyle/>
          <a:p>
            <a:pPr marL="0" indent="0" algn="l">
              <a:buNone/>
            </a:pPr>
            <a:r>
              <a:rPr lang="en-US" sz="2600" b="1" dirty="0">
                <a:solidFill>
                  <a:srgbClr val="C8942A"/>
                </a:solidFill>
                <a:latin typeface="Cambria" pitchFamily="34" charset="0"/>
                <a:ea typeface="Cambria" pitchFamily="34" charset="-122"/>
                <a:cs typeface="Cambria" pitchFamily="34" charset="-120"/>
              </a:rPr>
              <a:t>13</a:t>
            </a:r>
            <a:endParaRPr lang="en-US" sz="2600" dirty="0"/>
          </a:p>
        </p:txBody>
      </p:sp>
      <p:sp>
        <p:nvSpPr>
          <p:cNvPr id="16" name="Text 14"/>
          <p:cNvSpPr/>
          <p:nvPr/>
        </p:nvSpPr>
        <p:spPr>
          <a:xfrm>
            <a:off x="5404104" y="4663440"/>
            <a:ext cx="1572768" cy="292608"/>
          </a:xfrm>
          <a:prstGeom prst="rect">
            <a:avLst/>
          </a:prstGeom>
          <a:noFill/>
          <a:ln/>
        </p:spPr>
        <p:txBody>
          <a:bodyPr wrap="square" lIns="0" tIns="0" rIns="0" bIns="0" rtlCol="0" anchor="t"/>
          <a:lstStyle/>
          <a:p>
            <a:pPr marL="0" indent="0" algn="l">
              <a:buNone/>
            </a:pPr>
            <a:r>
              <a:rPr lang="en-US" sz="950" dirty="0">
                <a:solidFill>
                  <a:srgbClr val="A08060"/>
                </a:solidFill>
                <a:latin typeface="Calibri" pitchFamily="34" charset="0"/>
                <a:ea typeface="Calibri" pitchFamily="34" charset="-122"/>
                <a:cs typeface="Calibri" pitchFamily="34" charset="-120"/>
              </a:rPr>
              <a:t>Semanas de historia</a:t>
            </a:r>
            <a:endParaRPr lang="en-US" sz="950" dirty="0"/>
          </a:p>
        </p:txBody>
      </p:sp>
      <p:sp>
        <p:nvSpPr>
          <p:cNvPr id="17" name="Text 15"/>
          <p:cNvSpPr/>
          <p:nvPr/>
        </p:nvSpPr>
        <p:spPr>
          <a:xfrm>
            <a:off x="7068312" y="4206240"/>
            <a:ext cx="1572768" cy="502920"/>
          </a:xfrm>
          <a:prstGeom prst="rect">
            <a:avLst/>
          </a:prstGeom>
          <a:noFill/>
          <a:ln/>
        </p:spPr>
        <p:txBody>
          <a:bodyPr wrap="square" lIns="0" tIns="0" rIns="0" bIns="0" rtlCol="0" anchor="ctr"/>
          <a:lstStyle/>
          <a:p>
            <a:pPr marL="0" indent="0" algn="l">
              <a:buNone/>
            </a:pPr>
            <a:r>
              <a:rPr lang="en-US" sz="2600" b="1" dirty="0">
                <a:solidFill>
                  <a:srgbClr val="C8942A"/>
                </a:solidFill>
                <a:latin typeface="Cambria" pitchFamily="34" charset="0"/>
                <a:ea typeface="Cambria" pitchFamily="34" charset="-122"/>
                <a:cs typeface="Cambria" pitchFamily="34" charset="-120"/>
              </a:rPr>
              <a:t>26%</a:t>
            </a:r>
            <a:endParaRPr lang="en-US" sz="2600" dirty="0"/>
          </a:p>
        </p:txBody>
      </p:sp>
      <p:sp>
        <p:nvSpPr>
          <p:cNvPr id="18" name="Text 16"/>
          <p:cNvSpPr/>
          <p:nvPr/>
        </p:nvSpPr>
        <p:spPr>
          <a:xfrm>
            <a:off x="7068312" y="4663440"/>
            <a:ext cx="1572768" cy="292608"/>
          </a:xfrm>
          <a:prstGeom prst="rect">
            <a:avLst/>
          </a:prstGeom>
          <a:noFill/>
          <a:ln/>
        </p:spPr>
        <p:txBody>
          <a:bodyPr wrap="square" lIns="0" tIns="0" rIns="0" bIns="0" rtlCol="0" anchor="t"/>
          <a:lstStyle/>
          <a:p>
            <a:pPr marL="0" indent="0" algn="l">
              <a:buNone/>
            </a:pPr>
            <a:r>
              <a:rPr lang="en-US" sz="950" dirty="0">
                <a:solidFill>
                  <a:srgbClr val="A08060"/>
                </a:solidFill>
                <a:latin typeface="Calibri" pitchFamily="34" charset="0"/>
                <a:ea typeface="Calibri" pitchFamily="34" charset="-122"/>
                <a:cs typeface="Calibri" pitchFamily="34" charset="-120"/>
              </a:rPr>
              <a:t>WAPE (validacion)</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274320"/>
            <a:ext cx="8321040" cy="256032"/>
          </a:xfrm>
          <a:prstGeom prst="rect">
            <a:avLst/>
          </a:prstGeom>
          <a:noFill/>
          <a:ln/>
        </p:spPr>
        <p:txBody>
          <a:bodyPr wrap="square" lIns="0" tIns="0" rIns="0" bIns="0" rtlCol="0" anchor="ctr"/>
          <a:lstStyle/>
          <a:p>
            <a:pPr marL="0" indent="0">
              <a:buNone/>
            </a:pPr>
            <a:r>
              <a:rPr lang="en-US" sz="900" b="1" kern="0" spc="500" dirty="0">
                <a:solidFill>
                  <a:srgbClr val="C8942A"/>
                </a:solidFill>
                <a:latin typeface="Calibri" pitchFamily="34" charset="0"/>
                <a:ea typeface="Calibri" pitchFamily="34" charset="-122"/>
                <a:cs typeface="Calibri" pitchFamily="34" charset="-120"/>
              </a:rPr>
              <a:t>EL RETO</a:t>
            </a:r>
            <a:endParaRPr lang="en-US" sz="900" dirty="0"/>
          </a:p>
        </p:txBody>
      </p:sp>
      <p:sp>
        <p:nvSpPr>
          <p:cNvPr id="3" name="Text 1"/>
          <p:cNvSpPr/>
          <p:nvPr/>
        </p:nvSpPr>
        <p:spPr>
          <a:xfrm>
            <a:off x="411480" y="502920"/>
            <a:ext cx="8321040" cy="594360"/>
          </a:xfrm>
          <a:prstGeom prst="rect">
            <a:avLst/>
          </a:prstGeom>
          <a:noFill/>
          <a:ln/>
        </p:spPr>
        <p:txBody>
          <a:bodyPr wrap="square" lIns="0" tIns="0" rIns="0" bIns="0" rtlCol="0" anchor="ctr"/>
          <a:lstStyle/>
          <a:p>
            <a:pPr marL="0" indent="0">
              <a:buNone/>
            </a:pPr>
            <a:r>
              <a:rPr lang="en-US" sz="2800" b="1" dirty="0">
                <a:solidFill>
                  <a:srgbClr val="4E2C0E"/>
                </a:solidFill>
                <a:latin typeface="Cambria" pitchFamily="34" charset="0"/>
                <a:ea typeface="Cambria" pitchFamily="34" charset="-122"/>
                <a:cs typeface="Cambria" pitchFamily="34" charset="-120"/>
              </a:rPr>
              <a:t>Un problema de balance: ni mucho ni poco</a:t>
            </a:r>
            <a:endParaRPr lang="en-US" sz="2800" dirty="0"/>
          </a:p>
        </p:txBody>
      </p:sp>
      <p:sp>
        <p:nvSpPr>
          <p:cNvPr id="4" name="Text 2"/>
          <p:cNvSpPr/>
          <p:nvPr/>
        </p:nvSpPr>
        <p:spPr>
          <a:xfrm>
            <a:off x="411480" y="1188720"/>
            <a:ext cx="3931920" cy="1463040"/>
          </a:xfrm>
          <a:prstGeom prst="rect">
            <a:avLst/>
          </a:prstGeom>
          <a:noFill/>
          <a:ln/>
        </p:spPr>
        <p:txBody>
          <a:bodyPr wrap="square" lIns="0" tIns="0" rIns="0" bIns="0" rtlCol="0" anchor="t"/>
          <a:lstStyle/>
          <a:p>
            <a:pPr marL="0" indent="0">
              <a:buNone/>
            </a:pPr>
            <a:r>
              <a:rPr lang="en-US" sz="1300" b="1" dirty="0">
                <a:solidFill>
                  <a:srgbClr val="3D3D3D"/>
                </a:solidFill>
                <a:latin typeface="Calibri" pitchFamily="34" charset="0"/>
                <a:ea typeface="Calibri" pitchFamily="34" charset="-122"/>
                <a:cs typeface="Calibri" pitchFamily="34" charset="-120"/>
              </a:rPr>
              <a:t>Pedir de menos:</a:t>
            </a:r>
            <a:r>
              <a:rPr lang="en-US" sz="1300" dirty="0">
                <a:solidFill>
                  <a:srgbClr val="3D3D3D"/>
                </a:solidFill>
                <a:latin typeface="Calibri" pitchFamily="34" charset="0"/>
                <a:ea typeface="Calibri" pitchFamily="34" charset="-122"/>
                <a:cs typeface="Calibri" pitchFamily="34" charset="-120"/>
              </a:rPr>
              <a:t> ventas perdidas y clientes insatisfechos.</a:t>
            </a:r>
            <a:endParaRPr lang="en-US" sz="1300" dirty="0"/>
          </a:p>
          <a:p>
            <a:pPr marL="0" indent="0">
              <a:buNone/>
            </a:pPr>
            <a:r>
              <a:rPr lang="en-US" sz="1300" dirty="0">
                <a:solidFill>
                  <a:srgbClr val="3D3D3D"/>
                </a:solidFill>
                <a:latin typeface="Calibri" pitchFamily="34" charset="0"/>
                <a:ea typeface="Calibri" pitchFamily="34" charset="-122"/>
                <a:cs typeface="Calibri" pitchFamily="34" charset="-120"/>
              </a:rPr>
              <a:t> </a:t>
            </a:r>
            <a:endParaRPr lang="en-US" sz="1300" dirty="0"/>
          </a:p>
          <a:p>
            <a:pPr marL="0" indent="0">
              <a:buNone/>
            </a:pPr>
            <a:r>
              <a:rPr lang="en-US" sz="1300" b="1" dirty="0">
                <a:solidFill>
                  <a:srgbClr val="3D3D3D"/>
                </a:solidFill>
                <a:latin typeface="Calibri" pitchFamily="34" charset="0"/>
                <a:ea typeface="Calibri" pitchFamily="34" charset="-122"/>
                <a:cs typeface="Calibri" pitchFamily="34" charset="-120"/>
              </a:rPr>
              <a:t>Pedir de </a:t>
            </a:r>
            <a:r>
              <a:rPr lang="en-US" sz="1300" b="1" dirty="0" err="1">
                <a:solidFill>
                  <a:srgbClr val="3D3D3D"/>
                </a:solidFill>
                <a:latin typeface="Calibri" pitchFamily="34" charset="0"/>
                <a:ea typeface="Calibri" pitchFamily="34" charset="-122"/>
                <a:cs typeface="Calibri" pitchFamily="34" charset="-120"/>
              </a:rPr>
              <a:t>más</a:t>
            </a:r>
            <a:r>
              <a:rPr lang="en-US" sz="1300" b="1" dirty="0">
                <a:solidFill>
                  <a:srgbClr val="3D3D3D"/>
                </a:solidFill>
                <a:latin typeface="Calibri" pitchFamily="34" charset="0"/>
                <a:ea typeface="Calibri" pitchFamily="34" charset="-122"/>
                <a:cs typeface="Calibri" pitchFamily="34" charset="-120"/>
              </a:rPr>
              <a:t>:</a:t>
            </a:r>
            <a:r>
              <a:rPr lang="en-US" sz="1300" dirty="0">
                <a:solidFill>
                  <a:srgbClr val="3D3D3D"/>
                </a:solidFill>
                <a:latin typeface="Calibri" pitchFamily="34" charset="0"/>
                <a:ea typeface="Calibri" pitchFamily="34" charset="-122"/>
                <a:cs typeface="Calibri" pitchFamily="34" charset="-120"/>
              </a:rPr>
              <a:t> costos de almacenamiento y capital inmovilizado.</a:t>
            </a:r>
            <a:endParaRPr lang="en-US" sz="1300" dirty="0"/>
          </a:p>
          <a:p>
            <a:pPr marL="0" indent="0">
              <a:buNone/>
            </a:pPr>
            <a:r>
              <a:rPr lang="en-US" sz="1300" dirty="0">
                <a:solidFill>
                  <a:srgbClr val="3D3D3D"/>
                </a:solidFill>
                <a:latin typeface="Calibri" pitchFamily="34" charset="0"/>
                <a:ea typeface="Calibri" pitchFamily="34" charset="-122"/>
                <a:cs typeface="Calibri" pitchFamily="34" charset="-120"/>
              </a:rPr>
              <a:t> </a:t>
            </a:r>
            <a:endParaRPr lang="en-US" sz="1300" dirty="0"/>
          </a:p>
          <a:p>
            <a:pPr marL="0" indent="0">
              <a:buNone/>
            </a:pPr>
            <a:r>
              <a:rPr lang="en-US" sz="1300" dirty="0">
                <a:solidFill>
                  <a:srgbClr val="3D3D3D"/>
                </a:solidFill>
                <a:latin typeface="Calibri" pitchFamily="34" charset="0"/>
                <a:ea typeface="Calibri" pitchFamily="34" charset="-122"/>
                <a:cs typeface="Calibri" pitchFamily="34" charset="-120"/>
              </a:rPr>
              <a:t>La solucion requiere pronosticar la demanda </a:t>
            </a:r>
            <a:r>
              <a:rPr lang="en-US" sz="1300" b="1" dirty="0">
                <a:solidFill>
                  <a:srgbClr val="3D3D3D"/>
                </a:solidFill>
                <a:latin typeface="Calibri" pitchFamily="34" charset="0"/>
                <a:ea typeface="Calibri" pitchFamily="34" charset="-122"/>
                <a:cs typeface="Calibri" pitchFamily="34" charset="-120"/>
              </a:rPr>
              <a:t>con incertidumbre </a:t>
            </a:r>
            <a:r>
              <a:rPr lang="en-US" sz="1300" b="1" dirty="0" err="1">
                <a:solidFill>
                  <a:srgbClr val="3D3D3D"/>
                </a:solidFill>
                <a:latin typeface="Calibri" pitchFamily="34" charset="0"/>
                <a:ea typeface="Calibri" pitchFamily="34" charset="-122"/>
                <a:cs typeface="Calibri" pitchFamily="34" charset="-120"/>
              </a:rPr>
              <a:t>cuantificada</a:t>
            </a:r>
            <a:r>
              <a:rPr lang="en-US" sz="1300" dirty="0">
                <a:solidFill>
                  <a:srgbClr val="3D3D3D"/>
                </a:solidFill>
                <a:latin typeface="Calibri" pitchFamily="34" charset="0"/>
                <a:ea typeface="Calibri" pitchFamily="34" charset="-122"/>
                <a:cs typeface="Calibri" pitchFamily="34" charset="-120"/>
              </a:rPr>
              <a:t> (no solo un </a:t>
            </a:r>
            <a:r>
              <a:rPr lang="en-US" sz="1300" dirty="0" err="1">
                <a:solidFill>
                  <a:srgbClr val="3D3D3D"/>
                </a:solidFill>
                <a:latin typeface="Calibri" pitchFamily="34" charset="0"/>
                <a:ea typeface="Calibri" pitchFamily="34" charset="-122"/>
                <a:cs typeface="Calibri" pitchFamily="34" charset="-120"/>
              </a:rPr>
              <a:t>número</a:t>
            </a:r>
            <a:r>
              <a:rPr lang="en-US" sz="1300" dirty="0">
                <a:solidFill>
                  <a:srgbClr val="3D3D3D"/>
                </a:solidFill>
                <a:latin typeface="Calibri" pitchFamily="34" charset="0"/>
                <a:ea typeface="Calibri" pitchFamily="34" charset="-122"/>
                <a:cs typeface="Calibri" pitchFamily="34" charset="-120"/>
              </a:rPr>
              <a:t> </a:t>
            </a:r>
            <a:r>
              <a:rPr lang="en-US" sz="1300" dirty="0" err="1">
                <a:solidFill>
                  <a:srgbClr val="3D3D3D"/>
                </a:solidFill>
                <a:latin typeface="Calibri" pitchFamily="34" charset="0"/>
                <a:ea typeface="Calibri" pitchFamily="34" charset="-122"/>
                <a:cs typeface="Calibri" pitchFamily="34" charset="-120"/>
              </a:rPr>
              <a:t>promedio</a:t>
            </a:r>
            <a:r>
              <a:rPr lang="en-US" sz="1300" dirty="0">
                <a:solidFill>
                  <a:srgbClr val="3D3D3D"/>
                </a:solidFill>
                <a:latin typeface="Calibri" pitchFamily="34" charset="0"/>
                <a:ea typeface="Calibri" pitchFamily="34" charset="-122"/>
                <a:cs typeface="Calibri" pitchFamily="34" charset="-120"/>
              </a:rPr>
              <a:t>) para tomar decisiones de pedido </a:t>
            </a:r>
            <a:r>
              <a:rPr lang="en-US" sz="1300" dirty="0" err="1">
                <a:solidFill>
                  <a:srgbClr val="3D3D3D"/>
                </a:solidFill>
                <a:latin typeface="Calibri" pitchFamily="34" charset="0"/>
                <a:ea typeface="Calibri" pitchFamily="34" charset="-122"/>
                <a:cs typeface="Calibri" pitchFamily="34" charset="-120"/>
              </a:rPr>
              <a:t>economicamente</a:t>
            </a:r>
            <a:r>
              <a:rPr lang="en-US" sz="1300" dirty="0">
                <a:solidFill>
                  <a:srgbClr val="3D3D3D"/>
                </a:solidFill>
                <a:latin typeface="Calibri" pitchFamily="34" charset="0"/>
                <a:ea typeface="Calibri" pitchFamily="34" charset="-122"/>
                <a:cs typeface="Calibri" pitchFamily="34" charset="-120"/>
              </a:rPr>
              <a:t> </a:t>
            </a:r>
            <a:r>
              <a:rPr lang="en-US" sz="1300" dirty="0" err="1">
                <a:solidFill>
                  <a:srgbClr val="3D3D3D"/>
                </a:solidFill>
                <a:latin typeface="Calibri" pitchFamily="34" charset="0"/>
                <a:ea typeface="Calibri" pitchFamily="34" charset="-122"/>
                <a:cs typeface="Calibri" pitchFamily="34" charset="-120"/>
              </a:rPr>
              <a:t>óptimas</a:t>
            </a:r>
            <a:r>
              <a:rPr lang="en-US" sz="1300" dirty="0">
                <a:solidFill>
                  <a:srgbClr val="3D3D3D"/>
                </a:solidFill>
                <a:latin typeface="Calibri" pitchFamily="34" charset="0"/>
                <a:ea typeface="Calibri" pitchFamily="34" charset="-122"/>
                <a:cs typeface="Calibri" pitchFamily="34" charset="-120"/>
              </a:rPr>
              <a:t>.</a:t>
            </a:r>
            <a:endParaRPr lang="en-US" sz="1300" dirty="0"/>
          </a:p>
        </p:txBody>
      </p:sp>
      <p:pic>
        <p:nvPicPr>
          <p:cNvPr id="5" name="Image 0" descr="preencoded.png"/>
          <p:cNvPicPr>
            <a:picLocks noChangeAspect="1"/>
          </p:cNvPicPr>
          <p:nvPr/>
        </p:nvPicPr>
        <p:blipFill>
          <a:blip r:embed="rId3"/>
          <a:srcRect/>
          <a:stretch/>
        </p:blipFill>
        <p:spPr>
          <a:xfrm>
            <a:off x="4480560" y="1143000"/>
            <a:ext cx="4434840" cy="2606040"/>
          </a:xfrm>
          <a:prstGeom prst="rect">
            <a:avLst/>
          </a:prstGeom>
        </p:spPr>
      </p:pic>
      <p:sp>
        <p:nvSpPr>
          <p:cNvPr id="6" name="Text 3"/>
          <p:cNvSpPr/>
          <p:nvPr/>
        </p:nvSpPr>
        <p:spPr>
          <a:xfrm>
            <a:off x="4480560" y="3749040"/>
            <a:ext cx="4434840" cy="228600"/>
          </a:xfrm>
          <a:prstGeom prst="rect">
            <a:avLst/>
          </a:prstGeom>
          <a:noFill/>
          <a:ln/>
        </p:spPr>
        <p:txBody>
          <a:bodyPr wrap="square" lIns="0" tIns="0" rIns="0" bIns="0" rtlCol="0" anchor="ctr"/>
          <a:lstStyle/>
          <a:p>
            <a:pPr marL="0" indent="0" algn="ctr">
              <a:buNone/>
            </a:pPr>
            <a:r>
              <a:rPr lang="en-US" sz="850" i="1" dirty="0">
                <a:solidFill>
                  <a:srgbClr val="6B6B6B"/>
                </a:solidFill>
                <a:latin typeface="Calibri" pitchFamily="34" charset="0"/>
                <a:ea typeface="Calibri" pitchFamily="34" charset="-122"/>
                <a:cs typeface="Calibri" pitchFamily="34" charset="-120"/>
              </a:rPr>
              <a:t>Dias de cobertura actual por tienda × producto</a:t>
            </a:r>
            <a:endParaRPr lang="en-US" sz="850" dirty="0"/>
          </a:p>
        </p:txBody>
      </p:sp>
      <p:sp>
        <p:nvSpPr>
          <p:cNvPr id="7" name="Shape 4"/>
          <p:cNvSpPr/>
          <p:nvPr/>
        </p:nvSpPr>
        <p:spPr>
          <a:xfrm>
            <a:off x="335854" y="3190677"/>
            <a:ext cx="1261872" cy="1579419"/>
          </a:xfrm>
          <a:prstGeom prst="roundRect">
            <a:avLst>
              <a:gd name="adj" fmla="val 7246"/>
            </a:avLst>
          </a:prstGeom>
          <a:solidFill>
            <a:srgbClr val="FDF2F2"/>
          </a:solidFill>
          <a:ln w="19050">
            <a:solidFill>
              <a:srgbClr val="C0392B"/>
            </a:solidFill>
            <a:prstDash val="solid"/>
          </a:ln>
          <a:effectLst>
            <a:outerShdw blurRad="101600" dist="38100" dir="2700000" algn="bl" rotWithShape="0">
              <a:srgbClr val="000000">
                <a:alpha val="12000"/>
              </a:srgbClr>
            </a:outerShdw>
          </a:effectLst>
        </p:spPr>
        <p:txBody>
          <a:bodyPr/>
          <a:lstStyle/>
          <a:p>
            <a:endParaRPr lang="es-CO"/>
          </a:p>
        </p:txBody>
      </p:sp>
      <p:sp>
        <p:nvSpPr>
          <p:cNvPr id="8" name="Text 5"/>
          <p:cNvSpPr/>
          <p:nvPr/>
        </p:nvSpPr>
        <p:spPr>
          <a:xfrm>
            <a:off x="335854" y="3176130"/>
            <a:ext cx="1261872" cy="374073"/>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9" name="Text 6"/>
          <p:cNvSpPr/>
          <p:nvPr/>
        </p:nvSpPr>
        <p:spPr>
          <a:xfrm>
            <a:off x="381574" y="3568075"/>
            <a:ext cx="1170432" cy="349135"/>
          </a:xfrm>
          <a:prstGeom prst="rect">
            <a:avLst/>
          </a:prstGeom>
          <a:noFill/>
          <a:ln/>
        </p:spPr>
        <p:txBody>
          <a:bodyPr wrap="square" lIns="0" tIns="0" rIns="0" bIns="0" rtlCol="0" anchor="ctr"/>
          <a:lstStyle/>
          <a:p>
            <a:pPr marL="0" indent="0" algn="ctr">
              <a:buNone/>
            </a:pPr>
            <a:r>
              <a:rPr lang="en-US" sz="1150" b="1" dirty="0">
                <a:solidFill>
                  <a:srgbClr val="4E2C0E"/>
                </a:solidFill>
                <a:latin typeface="Cambria" pitchFamily="34" charset="0"/>
                <a:ea typeface="Cambria" pitchFamily="34" charset="-122"/>
                <a:cs typeface="Cambria" pitchFamily="34" charset="-120"/>
              </a:rPr>
              <a:t>106 / 160 series</a:t>
            </a:r>
            <a:endParaRPr lang="en-US" sz="1150" dirty="0"/>
          </a:p>
        </p:txBody>
      </p:sp>
      <p:sp>
        <p:nvSpPr>
          <p:cNvPr id="10" name="Text 7"/>
          <p:cNvSpPr/>
          <p:nvPr/>
        </p:nvSpPr>
        <p:spPr>
          <a:xfrm>
            <a:off x="381574" y="3972074"/>
            <a:ext cx="1170432" cy="748145"/>
          </a:xfrm>
          <a:prstGeom prst="rect">
            <a:avLst/>
          </a:prstGeom>
          <a:noFill/>
          <a:ln/>
        </p:spPr>
        <p:txBody>
          <a:bodyPr wrap="square" lIns="0" tIns="0" rIns="0" bIns="0" rtlCol="0" anchor="ctr"/>
          <a:lstStyle/>
          <a:p>
            <a:pPr marL="0" indent="0" algn="ctr">
              <a:buNone/>
            </a:pPr>
            <a:r>
              <a:rPr lang="en-US" sz="950" dirty="0">
                <a:solidFill>
                  <a:srgbClr val="444444"/>
                </a:solidFill>
                <a:latin typeface="Calibri" pitchFamily="34" charset="0"/>
                <a:ea typeface="Calibri" pitchFamily="34" charset="-122"/>
                <a:cs typeface="Calibri" pitchFamily="34" charset="-120"/>
              </a:rPr>
              <a:t>con stock </a:t>
            </a:r>
            <a:r>
              <a:rPr lang="en-US" sz="950" dirty="0" err="1">
                <a:solidFill>
                  <a:srgbClr val="444444"/>
                </a:solidFill>
                <a:latin typeface="Calibri" pitchFamily="34" charset="0"/>
                <a:ea typeface="Calibri" pitchFamily="34" charset="-122"/>
                <a:cs typeface="Calibri" pitchFamily="34" charset="-120"/>
              </a:rPr>
              <a:t>crítico</a:t>
            </a:r>
            <a:r>
              <a:rPr lang="en-US" sz="950" dirty="0">
                <a:solidFill>
                  <a:srgbClr val="444444"/>
                </a:solidFill>
                <a:latin typeface="Calibri" pitchFamily="34" charset="0"/>
                <a:ea typeface="Calibri" pitchFamily="34" charset="-122"/>
                <a:cs typeface="Calibri" pitchFamily="34" charset="-120"/>
              </a:rPr>
              <a:t> actual</a:t>
            </a:r>
            <a:endParaRPr lang="en-US" sz="950" dirty="0"/>
          </a:p>
          <a:p>
            <a:pPr marL="0" indent="0" algn="ctr">
              <a:buNone/>
            </a:pPr>
            <a:r>
              <a:rPr lang="en-US" sz="950" dirty="0">
                <a:solidFill>
                  <a:srgbClr val="444444"/>
                </a:solidFill>
                <a:latin typeface="Calibri" pitchFamily="34" charset="0"/>
                <a:ea typeface="Calibri" pitchFamily="34" charset="-122"/>
                <a:cs typeface="Calibri" pitchFamily="34" charset="-120"/>
              </a:rPr>
              <a:t>(cobertura &lt; 2 dias)</a:t>
            </a:r>
            <a:endParaRPr lang="en-US" sz="950" dirty="0"/>
          </a:p>
        </p:txBody>
      </p:sp>
      <p:sp>
        <p:nvSpPr>
          <p:cNvPr id="11" name="Shape 8"/>
          <p:cNvSpPr/>
          <p:nvPr/>
        </p:nvSpPr>
        <p:spPr>
          <a:xfrm>
            <a:off x="1680022" y="3190677"/>
            <a:ext cx="1261872" cy="1579419"/>
          </a:xfrm>
          <a:prstGeom prst="roundRect">
            <a:avLst>
              <a:gd name="adj" fmla="val 7246"/>
            </a:avLst>
          </a:prstGeom>
          <a:solidFill>
            <a:srgbClr val="FEF9EE"/>
          </a:solidFill>
          <a:ln w="19050">
            <a:solidFill>
              <a:srgbClr val="C8942A"/>
            </a:solidFill>
            <a:prstDash val="solid"/>
          </a:ln>
          <a:effectLst>
            <a:outerShdw blurRad="101600" dist="38100" dir="2700000" algn="bl" rotWithShape="0">
              <a:srgbClr val="000000">
                <a:alpha val="12000"/>
              </a:srgbClr>
            </a:outerShdw>
          </a:effectLst>
        </p:spPr>
        <p:txBody>
          <a:bodyPr/>
          <a:lstStyle/>
          <a:p>
            <a:endParaRPr lang="es-CO"/>
          </a:p>
        </p:txBody>
      </p:sp>
      <p:sp>
        <p:nvSpPr>
          <p:cNvPr id="12" name="Text 9"/>
          <p:cNvSpPr/>
          <p:nvPr/>
        </p:nvSpPr>
        <p:spPr>
          <a:xfrm>
            <a:off x="1680022" y="3176130"/>
            <a:ext cx="1261872" cy="374073"/>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13" name="Text 10"/>
          <p:cNvSpPr/>
          <p:nvPr/>
        </p:nvSpPr>
        <p:spPr>
          <a:xfrm>
            <a:off x="1725742" y="3568075"/>
            <a:ext cx="1170432" cy="349135"/>
          </a:xfrm>
          <a:prstGeom prst="rect">
            <a:avLst/>
          </a:prstGeom>
          <a:noFill/>
          <a:ln/>
        </p:spPr>
        <p:txBody>
          <a:bodyPr wrap="square" lIns="0" tIns="0" rIns="0" bIns="0" rtlCol="0" anchor="ctr"/>
          <a:lstStyle/>
          <a:p>
            <a:pPr marL="0" indent="0" algn="ctr">
              <a:buNone/>
            </a:pPr>
            <a:r>
              <a:rPr lang="en-US" sz="1150" b="1" dirty="0">
                <a:solidFill>
                  <a:srgbClr val="4E2C0E"/>
                </a:solidFill>
                <a:latin typeface="Cambria" pitchFamily="34" charset="0"/>
                <a:ea typeface="Cambria" pitchFamily="34" charset="-122"/>
                <a:cs typeface="Cambria" pitchFamily="34" charset="-120"/>
              </a:rPr>
              <a:t>~26% variabilidad</a:t>
            </a:r>
            <a:endParaRPr lang="en-US" sz="1150" dirty="0"/>
          </a:p>
        </p:txBody>
      </p:sp>
      <p:sp>
        <p:nvSpPr>
          <p:cNvPr id="14" name="Text 11"/>
          <p:cNvSpPr/>
          <p:nvPr/>
        </p:nvSpPr>
        <p:spPr>
          <a:xfrm>
            <a:off x="1725742" y="3972074"/>
            <a:ext cx="1170432" cy="748145"/>
          </a:xfrm>
          <a:prstGeom prst="rect">
            <a:avLst/>
          </a:prstGeom>
          <a:noFill/>
          <a:ln/>
        </p:spPr>
        <p:txBody>
          <a:bodyPr wrap="square" lIns="0" tIns="0" rIns="0" bIns="0" rtlCol="0" anchor="ctr"/>
          <a:lstStyle/>
          <a:p>
            <a:pPr marL="0" indent="0" algn="ctr">
              <a:buNone/>
            </a:pPr>
            <a:r>
              <a:rPr lang="en-US" sz="950" dirty="0">
                <a:solidFill>
                  <a:srgbClr val="444444"/>
                </a:solidFill>
                <a:latin typeface="Calibri" pitchFamily="34" charset="0"/>
                <a:ea typeface="Calibri" pitchFamily="34" charset="-122"/>
                <a:cs typeface="Calibri" pitchFamily="34" charset="-120"/>
              </a:rPr>
              <a:t>en demanda diaria</a:t>
            </a:r>
            <a:endParaRPr lang="en-US" sz="950" dirty="0"/>
          </a:p>
          <a:p>
            <a:pPr marL="0" indent="0" algn="ctr">
              <a:buNone/>
            </a:pPr>
            <a:r>
              <a:rPr lang="en-US" sz="950" dirty="0">
                <a:solidFill>
                  <a:srgbClr val="444444"/>
                </a:solidFill>
                <a:latin typeface="Calibri" pitchFamily="34" charset="0"/>
                <a:ea typeface="Calibri" pitchFamily="34" charset="-122"/>
                <a:cs typeface="Calibri" pitchFamily="34" charset="-120"/>
              </a:rPr>
              <a:t>(coeficiente de </a:t>
            </a:r>
            <a:r>
              <a:rPr lang="en-US" sz="950" dirty="0" err="1">
                <a:solidFill>
                  <a:srgbClr val="444444"/>
                </a:solidFill>
                <a:latin typeface="Calibri" pitchFamily="34" charset="0"/>
                <a:ea typeface="Calibri" pitchFamily="34" charset="-122"/>
                <a:cs typeface="Calibri" pitchFamily="34" charset="-120"/>
              </a:rPr>
              <a:t>variación</a:t>
            </a:r>
            <a:r>
              <a:rPr lang="en-US" sz="950" dirty="0">
                <a:solidFill>
                  <a:srgbClr val="444444"/>
                </a:solidFill>
                <a:latin typeface="Calibri" pitchFamily="34" charset="0"/>
                <a:ea typeface="Calibri" pitchFamily="34" charset="-122"/>
                <a:cs typeface="Calibri" pitchFamily="34" charset="-120"/>
              </a:rPr>
              <a:t>)</a:t>
            </a:r>
            <a:endParaRPr lang="en-US" sz="950" dirty="0"/>
          </a:p>
        </p:txBody>
      </p:sp>
      <p:sp>
        <p:nvSpPr>
          <p:cNvPr id="15" name="Shape 12"/>
          <p:cNvSpPr/>
          <p:nvPr/>
        </p:nvSpPr>
        <p:spPr>
          <a:xfrm>
            <a:off x="3024190" y="3190677"/>
            <a:ext cx="1261872" cy="1579419"/>
          </a:xfrm>
          <a:prstGeom prst="roundRect">
            <a:avLst>
              <a:gd name="adj" fmla="val 7246"/>
            </a:avLst>
          </a:prstGeom>
          <a:solidFill>
            <a:srgbClr val="F0F7EE"/>
          </a:solidFill>
          <a:ln w="19050">
            <a:solidFill>
              <a:srgbClr val="5C7A3E"/>
            </a:solidFill>
            <a:prstDash val="solid"/>
          </a:ln>
          <a:effectLst>
            <a:outerShdw blurRad="101600" dist="38100" dir="2700000" algn="bl" rotWithShape="0">
              <a:srgbClr val="000000">
                <a:alpha val="12000"/>
              </a:srgbClr>
            </a:outerShdw>
          </a:effectLst>
        </p:spPr>
        <p:txBody>
          <a:bodyPr/>
          <a:lstStyle/>
          <a:p>
            <a:endParaRPr lang="es-CO"/>
          </a:p>
        </p:txBody>
      </p:sp>
      <p:sp>
        <p:nvSpPr>
          <p:cNvPr id="16" name="Text 13"/>
          <p:cNvSpPr/>
          <p:nvPr/>
        </p:nvSpPr>
        <p:spPr>
          <a:xfrm>
            <a:off x="3024190" y="3176130"/>
            <a:ext cx="1261872" cy="374073"/>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17" name="Text 14"/>
          <p:cNvSpPr/>
          <p:nvPr/>
        </p:nvSpPr>
        <p:spPr>
          <a:xfrm>
            <a:off x="3069910" y="3568075"/>
            <a:ext cx="1170432" cy="349135"/>
          </a:xfrm>
          <a:prstGeom prst="rect">
            <a:avLst/>
          </a:prstGeom>
          <a:noFill/>
          <a:ln/>
        </p:spPr>
        <p:txBody>
          <a:bodyPr wrap="square" lIns="0" tIns="0" rIns="0" bIns="0" rtlCol="0" anchor="ctr"/>
          <a:lstStyle/>
          <a:p>
            <a:pPr marL="0" indent="0" algn="ctr">
              <a:buNone/>
            </a:pPr>
            <a:r>
              <a:rPr lang="en-US" sz="1150" b="1" dirty="0">
                <a:solidFill>
                  <a:srgbClr val="4E2C0E"/>
                </a:solidFill>
                <a:latin typeface="Cambria" pitchFamily="34" charset="0"/>
                <a:ea typeface="Cambria" pitchFamily="34" charset="-122"/>
                <a:cs typeface="Cambria" pitchFamily="34" charset="-120"/>
              </a:rPr>
              <a:t>+15% fin de semana</a:t>
            </a:r>
            <a:endParaRPr lang="en-US" sz="1150" dirty="0"/>
          </a:p>
        </p:txBody>
      </p:sp>
      <p:sp>
        <p:nvSpPr>
          <p:cNvPr id="18" name="Text 15"/>
          <p:cNvSpPr/>
          <p:nvPr/>
        </p:nvSpPr>
        <p:spPr>
          <a:xfrm>
            <a:off x="3069910" y="3972074"/>
            <a:ext cx="1170432" cy="748145"/>
          </a:xfrm>
          <a:prstGeom prst="rect">
            <a:avLst/>
          </a:prstGeom>
          <a:noFill/>
          <a:ln/>
        </p:spPr>
        <p:txBody>
          <a:bodyPr wrap="square" lIns="0" tIns="0" rIns="0" bIns="0" rtlCol="0" anchor="ctr"/>
          <a:lstStyle/>
          <a:p>
            <a:pPr marL="0" indent="0" algn="ctr">
              <a:buNone/>
            </a:pPr>
            <a:r>
              <a:rPr lang="en-US" sz="950" dirty="0">
                <a:solidFill>
                  <a:srgbClr val="444444"/>
                </a:solidFill>
                <a:latin typeface="Calibri" pitchFamily="34" charset="0"/>
                <a:ea typeface="Calibri" pitchFamily="34" charset="-122"/>
                <a:cs typeface="Calibri" pitchFamily="34" charset="-120"/>
              </a:rPr>
              <a:t>mayor </a:t>
            </a:r>
            <a:r>
              <a:rPr lang="en-US" sz="950" dirty="0" err="1">
                <a:solidFill>
                  <a:srgbClr val="444444"/>
                </a:solidFill>
                <a:latin typeface="Calibri" pitchFamily="34" charset="0"/>
                <a:ea typeface="Calibri" pitchFamily="34" charset="-122"/>
                <a:cs typeface="Calibri" pitchFamily="34" charset="-120"/>
              </a:rPr>
              <a:t>demanda</a:t>
            </a:r>
            <a:r>
              <a:rPr lang="en-US" sz="950" dirty="0">
                <a:solidFill>
                  <a:srgbClr val="444444"/>
                </a:solidFill>
                <a:latin typeface="Calibri" pitchFamily="34" charset="0"/>
                <a:ea typeface="Calibri" pitchFamily="34" charset="-122"/>
                <a:cs typeface="Calibri" pitchFamily="34" charset="-120"/>
              </a:rPr>
              <a:t> </a:t>
            </a:r>
            <a:r>
              <a:rPr lang="en-US" sz="950" dirty="0" err="1">
                <a:solidFill>
                  <a:srgbClr val="444444"/>
                </a:solidFill>
                <a:latin typeface="Calibri" pitchFamily="34" charset="0"/>
                <a:ea typeface="Calibri" pitchFamily="34" charset="-122"/>
                <a:cs typeface="Calibri" pitchFamily="34" charset="-120"/>
              </a:rPr>
              <a:t>sábados</a:t>
            </a:r>
            <a:endParaRPr lang="en-US" sz="950" dirty="0"/>
          </a:p>
          <a:p>
            <a:pPr marL="0" indent="0" algn="ctr">
              <a:buNone/>
            </a:pPr>
            <a:r>
              <a:rPr lang="en-US" sz="950" dirty="0">
                <a:solidFill>
                  <a:srgbClr val="444444"/>
                </a:solidFill>
                <a:latin typeface="Calibri" pitchFamily="34" charset="0"/>
                <a:ea typeface="Calibri" pitchFamily="34" charset="-122"/>
                <a:cs typeface="Calibri" pitchFamily="34" charset="-120"/>
              </a:rPr>
              <a:t>y domingos vs. días laborales</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EDD8"/>
        </a:solidFill>
        <a:effectLst/>
      </p:bgPr>
    </p:bg>
    <p:spTree>
      <p:nvGrpSpPr>
        <p:cNvPr id="1" name=""/>
        <p:cNvGrpSpPr/>
        <p:nvPr/>
      </p:nvGrpSpPr>
      <p:grpSpPr>
        <a:xfrm>
          <a:off x="0" y="0"/>
          <a:ext cx="0" cy="0"/>
          <a:chOff x="0" y="0"/>
          <a:chExt cx="0" cy="0"/>
        </a:xfrm>
      </p:grpSpPr>
      <p:sp>
        <p:nvSpPr>
          <p:cNvPr id="2" name="Text 0"/>
          <p:cNvSpPr/>
          <p:nvPr/>
        </p:nvSpPr>
        <p:spPr>
          <a:xfrm>
            <a:off x="411480" y="256032"/>
            <a:ext cx="8321040" cy="256032"/>
          </a:xfrm>
          <a:prstGeom prst="rect">
            <a:avLst/>
          </a:prstGeom>
          <a:noFill/>
          <a:ln/>
        </p:spPr>
        <p:txBody>
          <a:bodyPr wrap="square" lIns="0" tIns="0" rIns="0" bIns="0" rtlCol="0" anchor="ctr"/>
          <a:lstStyle/>
          <a:p>
            <a:pPr marL="0" indent="0">
              <a:buNone/>
            </a:pPr>
            <a:r>
              <a:rPr lang="en-US" sz="900" b="1" kern="0" spc="500" dirty="0">
                <a:solidFill>
                  <a:srgbClr val="C8942A"/>
                </a:solidFill>
                <a:latin typeface="Calibri" pitchFamily="34" charset="0"/>
                <a:ea typeface="Calibri" pitchFamily="34" charset="-122"/>
                <a:cs typeface="Calibri" pitchFamily="34" charset="-120"/>
              </a:rPr>
              <a:t>METODOLOGIA</a:t>
            </a:r>
            <a:endParaRPr lang="en-US" sz="900" dirty="0"/>
          </a:p>
        </p:txBody>
      </p:sp>
      <p:sp>
        <p:nvSpPr>
          <p:cNvPr id="3" name="Text 1"/>
          <p:cNvSpPr/>
          <p:nvPr/>
        </p:nvSpPr>
        <p:spPr>
          <a:xfrm>
            <a:off x="411480" y="484632"/>
            <a:ext cx="8321040" cy="566928"/>
          </a:xfrm>
          <a:prstGeom prst="rect">
            <a:avLst/>
          </a:prstGeom>
          <a:noFill/>
          <a:ln/>
        </p:spPr>
        <p:txBody>
          <a:bodyPr wrap="square" lIns="0" tIns="0" rIns="0" bIns="0" rtlCol="0" anchor="ctr"/>
          <a:lstStyle/>
          <a:p>
            <a:pPr marL="0" indent="0">
              <a:buNone/>
            </a:pPr>
            <a:r>
              <a:rPr lang="en-US" sz="2800" b="1" dirty="0">
                <a:solidFill>
                  <a:srgbClr val="4E2C0E"/>
                </a:solidFill>
                <a:latin typeface="Cambria" pitchFamily="34" charset="0"/>
                <a:ea typeface="Cambria" pitchFamily="34" charset="-122"/>
                <a:cs typeface="Cambria" pitchFamily="34" charset="-120"/>
              </a:rPr>
              <a:t>Tres pasos: del dato a la </a:t>
            </a:r>
            <a:r>
              <a:rPr lang="en-US" sz="2800" b="1" dirty="0" err="1">
                <a:solidFill>
                  <a:srgbClr val="4E2C0E"/>
                </a:solidFill>
                <a:latin typeface="Cambria" pitchFamily="34" charset="0"/>
                <a:ea typeface="Cambria" pitchFamily="34" charset="-122"/>
                <a:cs typeface="Cambria" pitchFamily="34" charset="-120"/>
              </a:rPr>
              <a:t>decisión</a:t>
            </a:r>
            <a:endParaRPr lang="en-US" sz="2800" dirty="0"/>
          </a:p>
        </p:txBody>
      </p:sp>
      <p:sp>
        <p:nvSpPr>
          <p:cNvPr id="4" name="Shape 2"/>
          <p:cNvSpPr/>
          <p:nvPr/>
        </p:nvSpPr>
        <p:spPr>
          <a:xfrm>
            <a:off x="384048" y="1170432"/>
            <a:ext cx="2697480" cy="3566160"/>
          </a:xfrm>
          <a:prstGeom prst="roundRect">
            <a:avLst>
              <a:gd name="adj" fmla="val 4068"/>
            </a:avLst>
          </a:prstGeom>
          <a:solidFill>
            <a:srgbClr val="FFFFFF"/>
          </a:solidFill>
          <a:ln/>
          <a:effectLst>
            <a:outerShdw blurRad="101600" dist="38100" dir="2700000" algn="bl" rotWithShape="0">
              <a:srgbClr val="000000">
                <a:alpha val="12000"/>
              </a:srgbClr>
            </a:outerShdw>
          </a:effectLst>
        </p:spPr>
        <p:txBody>
          <a:bodyPr/>
          <a:lstStyle/>
          <a:p>
            <a:endParaRPr lang="es-CO"/>
          </a:p>
        </p:txBody>
      </p:sp>
      <p:sp>
        <p:nvSpPr>
          <p:cNvPr id="5" name="Text 3"/>
          <p:cNvSpPr/>
          <p:nvPr/>
        </p:nvSpPr>
        <p:spPr>
          <a:xfrm>
            <a:off x="521208" y="1234440"/>
            <a:ext cx="822960" cy="640080"/>
          </a:xfrm>
          <a:prstGeom prst="rect">
            <a:avLst/>
          </a:prstGeom>
          <a:noFill/>
          <a:ln/>
        </p:spPr>
        <p:txBody>
          <a:bodyPr wrap="square" lIns="0" tIns="0" rIns="0" bIns="0" rtlCol="0" anchor="ctr"/>
          <a:lstStyle/>
          <a:p>
            <a:pPr marL="0" indent="0">
              <a:buNone/>
            </a:pPr>
            <a:r>
              <a:rPr lang="en-US" sz="3000" b="1" dirty="0">
                <a:solidFill>
                  <a:srgbClr val="C8942A"/>
                </a:solidFill>
                <a:latin typeface="Cambria" pitchFamily="34" charset="0"/>
                <a:ea typeface="Cambria" pitchFamily="34" charset="-122"/>
                <a:cs typeface="Cambria" pitchFamily="34" charset="-120"/>
              </a:rPr>
              <a:t>01</a:t>
            </a:r>
            <a:endParaRPr lang="en-US" sz="3000" dirty="0"/>
          </a:p>
        </p:txBody>
      </p:sp>
      <p:sp>
        <p:nvSpPr>
          <p:cNvPr id="6" name="Text 4"/>
          <p:cNvSpPr/>
          <p:nvPr/>
        </p:nvSpPr>
        <p:spPr>
          <a:xfrm>
            <a:off x="2395728" y="1207008"/>
            <a:ext cx="594360" cy="594360"/>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7" name="Text 5"/>
          <p:cNvSpPr/>
          <p:nvPr/>
        </p:nvSpPr>
        <p:spPr>
          <a:xfrm>
            <a:off x="521208" y="1874520"/>
            <a:ext cx="2423160" cy="685800"/>
          </a:xfrm>
          <a:prstGeom prst="rect">
            <a:avLst/>
          </a:prstGeom>
          <a:noFill/>
          <a:ln/>
        </p:spPr>
        <p:txBody>
          <a:bodyPr wrap="square" lIns="0" tIns="0" rIns="0" bIns="0" rtlCol="0" anchor="t"/>
          <a:lstStyle/>
          <a:p>
            <a:pPr marL="0" indent="0">
              <a:buNone/>
            </a:pPr>
            <a:r>
              <a:rPr lang="en-US" sz="1400" b="1" dirty="0" err="1">
                <a:solidFill>
                  <a:srgbClr val="4E2C0E"/>
                </a:solidFill>
                <a:latin typeface="Cambria" pitchFamily="34" charset="0"/>
                <a:ea typeface="Cambria" pitchFamily="34" charset="-122"/>
                <a:cs typeface="Cambria" pitchFamily="34" charset="-120"/>
              </a:rPr>
              <a:t>Pronóstico</a:t>
            </a:r>
            <a:r>
              <a:rPr lang="en-US" sz="1400" b="1" dirty="0">
                <a:solidFill>
                  <a:srgbClr val="4E2C0E"/>
                </a:solidFill>
                <a:latin typeface="Cambria" pitchFamily="34" charset="0"/>
                <a:ea typeface="Cambria" pitchFamily="34" charset="-122"/>
                <a:cs typeface="Cambria" pitchFamily="34" charset="-120"/>
              </a:rPr>
              <a:t> global</a:t>
            </a:r>
            <a:endParaRPr lang="en-US" sz="1400" dirty="0"/>
          </a:p>
          <a:p>
            <a:pPr marL="0" indent="0">
              <a:buNone/>
            </a:pPr>
            <a:r>
              <a:rPr lang="en-US" sz="1400" b="1" dirty="0">
                <a:solidFill>
                  <a:srgbClr val="4E2C0E"/>
                </a:solidFill>
                <a:latin typeface="Cambria" pitchFamily="34" charset="0"/>
                <a:ea typeface="Cambria" pitchFamily="34" charset="-122"/>
                <a:cs typeface="Cambria" pitchFamily="34" charset="-120"/>
              </a:rPr>
              <a:t>con LightGBM</a:t>
            </a:r>
            <a:endParaRPr lang="en-US" sz="1400" dirty="0"/>
          </a:p>
        </p:txBody>
      </p:sp>
      <p:sp>
        <p:nvSpPr>
          <p:cNvPr id="8" name="Text 6"/>
          <p:cNvSpPr/>
          <p:nvPr/>
        </p:nvSpPr>
        <p:spPr>
          <a:xfrm>
            <a:off x="521208" y="2578608"/>
            <a:ext cx="2423160" cy="2057400"/>
          </a:xfrm>
          <a:prstGeom prst="rect">
            <a:avLst/>
          </a:prstGeom>
          <a:noFill/>
          <a:ln/>
        </p:spPr>
        <p:txBody>
          <a:bodyPr wrap="square" lIns="0" tIns="0" rIns="0" bIns="0" rtlCol="0" anchor="t"/>
          <a:lstStyle/>
          <a:p>
            <a:pPr marL="0" indent="0">
              <a:buNone/>
            </a:pPr>
            <a:r>
              <a:rPr lang="en-US" sz="1050" dirty="0">
                <a:solidFill>
                  <a:srgbClr val="444444"/>
                </a:solidFill>
                <a:latin typeface="Calibri" pitchFamily="34" charset="0"/>
                <a:ea typeface="Calibri" pitchFamily="34" charset="-122"/>
                <a:cs typeface="Calibri" pitchFamily="34" charset="-120"/>
              </a:rPr>
              <a:t>Un unico modelo aprende de las 160 series a la vez. Comparte patrones entre tiendas y </a:t>
            </a:r>
            <a:r>
              <a:rPr lang="en-US" sz="1050" dirty="0" err="1">
                <a:solidFill>
                  <a:srgbClr val="444444"/>
                </a:solidFill>
                <a:latin typeface="Calibri" pitchFamily="34" charset="0"/>
                <a:ea typeface="Calibri" pitchFamily="34" charset="-122"/>
                <a:cs typeface="Calibri" pitchFamily="34" charset="-120"/>
              </a:rPr>
              <a:t>productos</a:t>
            </a:r>
            <a:r>
              <a:rPr lang="en-US" sz="1050" dirty="0">
                <a:solidFill>
                  <a:srgbClr val="444444"/>
                </a:solidFill>
                <a:latin typeface="Calibri" pitchFamily="34" charset="0"/>
                <a:ea typeface="Calibri" pitchFamily="34" charset="-122"/>
                <a:cs typeface="Calibri" pitchFamily="34" charset="-120"/>
              </a:rPr>
              <a:t> clave con solo 13 semanas de historia por serie.</a:t>
            </a:r>
            <a:endParaRPr lang="en-US" sz="1050" dirty="0"/>
          </a:p>
          <a:p>
            <a:pPr marL="0" indent="0">
              <a:buNone/>
            </a:pPr>
            <a:endParaRPr lang="en-US" sz="1050" dirty="0"/>
          </a:p>
          <a:p>
            <a:pPr marL="0" indent="0">
              <a:buNone/>
            </a:pPr>
            <a:r>
              <a:rPr lang="en-US" sz="1050" dirty="0">
                <a:solidFill>
                  <a:srgbClr val="444444"/>
                </a:solidFill>
                <a:latin typeface="Calibri" pitchFamily="34" charset="0"/>
                <a:ea typeface="Calibri" pitchFamily="34" charset="-122"/>
                <a:cs typeface="Calibri" pitchFamily="34" charset="-120"/>
              </a:rPr>
              <a:t>Entrega 3 escenarios: p10 (pesimista), p50 (esperado) y p90 (optimista).</a:t>
            </a:r>
            <a:endParaRPr lang="en-US" sz="1050" dirty="0"/>
          </a:p>
        </p:txBody>
      </p:sp>
      <p:sp>
        <p:nvSpPr>
          <p:cNvPr id="9" name="Shape 7"/>
          <p:cNvSpPr/>
          <p:nvPr/>
        </p:nvSpPr>
        <p:spPr>
          <a:xfrm>
            <a:off x="3108960" y="2953512"/>
            <a:ext cx="109728" cy="0"/>
          </a:xfrm>
          <a:prstGeom prst="line">
            <a:avLst/>
          </a:prstGeom>
          <a:noFill/>
          <a:ln w="25400">
            <a:solidFill>
              <a:srgbClr val="C8942A"/>
            </a:solidFill>
            <a:prstDash val="solid"/>
          </a:ln>
        </p:spPr>
        <p:txBody>
          <a:bodyPr/>
          <a:lstStyle/>
          <a:p>
            <a:endParaRPr lang="es-CO"/>
          </a:p>
        </p:txBody>
      </p:sp>
      <p:sp>
        <p:nvSpPr>
          <p:cNvPr id="10" name="Shape 8"/>
          <p:cNvSpPr/>
          <p:nvPr/>
        </p:nvSpPr>
        <p:spPr>
          <a:xfrm>
            <a:off x="3218688" y="1170432"/>
            <a:ext cx="2697480" cy="3566160"/>
          </a:xfrm>
          <a:prstGeom prst="roundRect">
            <a:avLst>
              <a:gd name="adj" fmla="val 4068"/>
            </a:avLst>
          </a:prstGeom>
          <a:solidFill>
            <a:srgbClr val="FFFFFF"/>
          </a:solidFill>
          <a:ln/>
          <a:effectLst>
            <a:outerShdw blurRad="101600" dist="38100" dir="2700000" algn="bl" rotWithShape="0">
              <a:srgbClr val="000000">
                <a:alpha val="12000"/>
              </a:srgbClr>
            </a:outerShdw>
          </a:effectLst>
        </p:spPr>
        <p:txBody>
          <a:bodyPr/>
          <a:lstStyle/>
          <a:p>
            <a:endParaRPr lang="es-CO"/>
          </a:p>
        </p:txBody>
      </p:sp>
      <p:sp>
        <p:nvSpPr>
          <p:cNvPr id="11" name="Text 9"/>
          <p:cNvSpPr/>
          <p:nvPr/>
        </p:nvSpPr>
        <p:spPr>
          <a:xfrm>
            <a:off x="3355848" y="1234440"/>
            <a:ext cx="822960" cy="640080"/>
          </a:xfrm>
          <a:prstGeom prst="rect">
            <a:avLst/>
          </a:prstGeom>
          <a:noFill/>
          <a:ln/>
        </p:spPr>
        <p:txBody>
          <a:bodyPr wrap="square" lIns="0" tIns="0" rIns="0" bIns="0" rtlCol="0" anchor="ctr"/>
          <a:lstStyle/>
          <a:p>
            <a:pPr marL="0" indent="0">
              <a:buNone/>
            </a:pPr>
            <a:r>
              <a:rPr lang="en-US" sz="3000" b="1" dirty="0">
                <a:solidFill>
                  <a:srgbClr val="C8942A"/>
                </a:solidFill>
                <a:latin typeface="Cambria" pitchFamily="34" charset="0"/>
                <a:ea typeface="Cambria" pitchFamily="34" charset="-122"/>
                <a:cs typeface="Cambria" pitchFamily="34" charset="-120"/>
              </a:rPr>
              <a:t>02</a:t>
            </a:r>
            <a:endParaRPr lang="en-US" sz="3000" dirty="0"/>
          </a:p>
        </p:txBody>
      </p:sp>
      <p:sp>
        <p:nvSpPr>
          <p:cNvPr id="12" name="Text 10"/>
          <p:cNvSpPr/>
          <p:nvPr/>
        </p:nvSpPr>
        <p:spPr>
          <a:xfrm>
            <a:off x="5230368" y="1207008"/>
            <a:ext cx="594360" cy="594360"/>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13" name="Text 11"/>
          <p:cNvSpPr/>
          <p:nvPr/>
        </p:nvSpPr>
        <p:spPr>
          <a:xfrm>
            <a:off x="3355848" y="1874520"/>
            <a:ext cx="2423160" cy="685800"/>
          </a:xfrm>
          <a:prstGeom prst="rect">
            <a:avLst/>
          </a:prstGeom>
          <a:noFill/>
          <a:ln/>
        </p:spPr>
        <p:txBody>
          <a:bodyPr wrap="square" lIns="0" tIns="0" rIns="0" bIns="0" rtlCol="0" anchor="t"/>
          <a:lstStyle/>
          <a:p>
            <a:pPr marL="0" indent="0">
              <a:buNone/>
            </a:pPr>
            <a:r>
              <a:rPr lang="en-US" sz="1400" b="1" dirty="0" err="1">
                <a:solidFill>
                  <a:srgbClr val="4E2C0E"/>
                </a:solidFill>
                <a:latin typeface="Cambria" pitchFamily="34" charset="0"/>
                <a:ea typeface="Cambria" pitchFamily="34" charset="-122"/>
                <a:cs typeface="Cambria" pitchFamily="34" charset="-120"/>
              </a:rPr>
              <a:t>Cuantificación</a:t>
            </a:r>
            <a:endParaRPr lang="en-US" sz="1400" dirty="0"/>
          </a:p>
          <a:p>
            <a:pPr marL="0" indent="0">
              <a:buNone/>
            </a:pPr>
            <a:r>
              <a:rPr lang="en-US" sz="1400" b="1" dirty="0">
                <a:solidFill>
                  <a:srgbClr val="4E2C0E"/>
                </a:solidFill>
                <a:latin typeface="Cambria" pitchFamily="34" charset="0"/>
                <a:ea typeface="Cambria" pitchFamily="34" charset="-122"/>
                <a:cs typeface="Cambria" pitchFamily="34" charset="-120"/>
              </a:rPr>
              <a:t>de incertidumbre</a:t>
            </a:r>
            <a:endParaRPr lang="en-US" sz="1400" dirty="0"/>
          </a:p>
        </p:txBody>
      </p:sp>
      <p:sp>
        <p:nvSpPr>
          <p:cNvPr id="14" name="Text 12"/>
          <p:cNvSpPr/>
          <p:nvPr/>
        </p:nvSpPr>
        <p:spPr>
          <a:xfrm>
            <a:off x="3355848" y="2578608"/>
            <a:ext cx="2423160" cy="2057400"/>
          </a:xfrm>
          <a:prstGeom prst="rect">
            <a:avLst/>
          </a:prstGeom>
          <a:noFill/>
          <a:ln/>
        </p:spPr>
        <p:txBody>
          <a:bodyPr wrap="square" lIns="0" tIns="0" rIns="0" bIns="0" rtlCol="0" anchor="t"/>
          <a:lstStyle/>
          <a:p>
            <a:pPr marL="0" indent="0">
              <a:buNone/>
            </a:pPr>
            <a:r>
              <a:rPr lang="en-US" sz="1050" dirty="0">
                <a:solidFill>
                  <a:srgbClr val="444444"/>
                </a:solidFill>
                <a:latin typeface="Calibri" pitchFamily="34" charset="0"/>
                <a:ea typeface="Calibri" pitchFamily="34" charset="-122"/>
                <a:cs typeface="Calibri" pitchFamily="34" charset="-120"/>
              </a:rPr>
              <a:t>En vez de MSE </a:t>
            </a:r>
            <a:r>
              <a:rPr lang="en-US" sz="1050" dirty="0" err="1">
                <a:solidFill>
                  <a:srgbClr val="444444"/>
                </a:solidFill>
                <a:latin typeface="Calibri" pitchFamily="34" charset="0"/>
                <a:ea typeface="Calibri" pitchFamily="34" charset="-122"/>
                <a:cs typeface="Calibri" pitchFamily="34" charset="-120"/>
              </a:rPr>
              <a:t>clásico</a:t>
            </a:r>
            <a:r>
              <a:rPr lang="en-US" sz="1050" dirty="0">
                <a:solidFill>
                  <a:srgbClr val="444444"/>
                </a:solidFill>
                <a:latin typeface="Calibri" pitchFamily="34" charset="0"/>
                <a:ea typeface="Calibri" pitchFamily="34" charset="-122"/>
                <a:cs typeface="Calibri" pitchFamily="34" charset="-120"/>
              </a:rPr>
              <a:t>, </a:t>
            </a:r>
            <a:r>
              <a:rPr lang="en-US" sz="1050" dirty="0" err="1">
                <a:solidFill>
                  <a:srgbClr val="444444"/>
                </a:solidFill>
                <a:latin typeface="Calibri" pitchFamily="34" charset="0"/>
                <a:ea typeface="Calibri" pitchFamily="34" charset="-122"/>
                <a:cs typeface="Calibri" pitchFamily="34" charset="-120"/>
              </a:rPr>
              <a:t>usamos</a:t>
            </a:r>
            <a:r>
              <a:rPr lang="en-US" sz="1050" dirty="0">
                <a:solidFill>
                  <a:srgbClr val="444444"/>
                </a:solidFill>
                <a:latin typeface="Calibri" pitchFamily="34" charset="0"/>
                <a:ea typeface="Calibri" pitchFamily="34" charset="-122"/>
                <a:cs typeface="Calibri" pitchFamily="34" charset="-120"/>
              </a:rPr>
              <a:t> “Quantile Loss (Pinball)”. El modelo aprende la forma de la </a:t>
            </a:r>
            <a:r>
              <a:rPr lang="en-US" sz="1050" dirty="0" err="1">
                <a:solidFill>
                  <a:srgbClr val="444444"/>
                </a:solidFill>
                <a:latin typeface="Calibri" pitchFamily="34" charset="0"/>
                <a:ea typeface="Calibri" pitchFamily="34" charset="-122"/>
                <a:cs typeface="Calibri" pitchFamily="34" charset="-120"/>
              </a:rPr>
              <a:t>distribución</a:t>
            </a:r>
            <a:r>
              <a:rPr lang="en-US" sz="1050" dirty="0">
                <a:solidFill>
                  <a:srgbClr val="444444"/>
                </a:solidFill>
                <a:latin typeface="Calibri" pitchFamily="34" charset="0"/>
                <a:ea typeface="Calibri" pitchFamily="34" charset="-122"/>
                <a:cs typeface="Calibri" pitchFamily="34" charset="-120"/>
              </a:rPr>
              <a:t> de demanda, no solo el promedio.</a:t>
            </a:r>
            <a:endParaRPr lang="en-US" sz="1050" dirty="0"/>
          </a:p>
          <a:p>
            <a:pPr marL="0" indent="0">
              <a:buNone/>
            </a:pPr>
            <a:endParaRPr lang="en-US" sz="1050" dirty="0"/>
          </a:p>
          <a:p>
            <a:pPr marL="0" indent="0">
              <a:buNone/>
            </a:pPr>
            <a:r>
              <a:rPr lang="en-US" sz="1050" dirty="0">
                <a:solidFill>
                  <a:srgbClr val="444444"/>
                </a:solidFill>
                <a:latin typeface="Calibri" pitchFamily="34" charset="0"/>
                <a:ea typeface="Calibri" pitchFamily="34" charset="-122"/>
                <a:cs typeface="Calibri" pitchFamily="34" charset="-120"/>
              </a:rPr>
              <a:t>Esto es lo que permite decidir con riesgo controlado.</a:t>
            </a:r>
            <a:endParaRPr lang="en-US" sz="1050" dirty="0"/>
          </a:p>
        </p:txBody>
      </p:sp>
      <p:sp>
        <p:nvSpPr>
          <p:cNvPr id="15" name="Shape 13"/>
          <p:cNvSpPr/>
          <p:nvPr/>
        </p:nvSpPr>
        <p:spPr>
          <a:xfrm>
            <a:off x="5943600" y="2953512"/>
            <a:ext cx="109728" cy="0"/>
          </a:xfrm>
          <a:prstGeom prst="line">
            <a:avLst/>
          </a:prstGeom>
          <a:noFill/>
          <a:ln w="25400">
            <a:solidFill>
              <a:srgbClr val="C8942A"/>
            </a:solidFill>
            <a:prstDash val="solid"/>
          </a:ln>
        </p:spPr>
        <p:txBody>
          <a:bodyPr/>
          <a:lstStyle/>
          <a:p>
            <a:endParaRPr lang="es-CO"/>
          </a:p>
        </p:txBody>
      </p:sp>
      <p:sp>
        <p:nvSpPr>
          <p:cNvPr id="16" name="Shape 14"/>
          <p:cNvSpPr/>
          <p:nvPr/>
        </p:nvSpPr>
        <p:spPr>
          <a:xfrm>
            <a:off x="6053328" y="1170432"/>
            <a:ext cx="2697480" cy="3566160"/>
          </a:xfrm>
          <a:prstGeom prst="roundRect">
            <a:avLst>
              <a:gd name="adj" fmla="val 4068"/>
            </a:avLst>
          </a:prstGeom>
          <a:solidFill>
            <a:srgbClr val="FFFFFF"/>
          </a:solidFill>
          <a:ln/>
          <a:effectLst>
            <a:outerShdw blurRad="101600" dist="38100" dir="2700000" algn="bl" rotWithShape="0">
              <a:srgbClr val="000000">
                <a:alpha val="12000"/>
              </a:srgbClr>
            </a:outerShdw>
          </a:effectLst>
        </p:spPr>
        <p:txBody>
          <a:bodyPr/>
          <a:lstStyle/>
          <a:p>
            <a:endParaRPr lang="es-CO"/>
          </a:p>
        </p:txBody>
      </p:sp>
      <p:sp>
        <p:nvSpPr>
          <p:cNvPr id="17" name="Text 15"/>
          <p:cNvSpPr/>
          <p:nvPr/>
        </p:nvSpPr>
        <p:spPr>
          <a:xfrm>
            <a:off x="6190488" y="1234440"/>
            <a:ext cx="822960" cy="640080"/>
          </a:xfrm>
          <a:prstGeom prst="rect">
            <a:avLst/>
          </a:prstGeom>
          <a:noFill/>
          <a:ln/>
        </p:spPr>
        <p:txBody>
          <a:bodyPr wrap="square" lIns="0" tIns="0" rIns="0" bIns="0" rtlCol="0" anchor="ctr"/>
          <a:lstStyle/>
          <a:p>
            <a:pPr marL="0" indent="0">
              <a:buNone/>
            </a:pPr>
            <a:r>
              <a:rPr lang="en-US" sz="3000" b="1" dirty="0">
                <a:solidFill>
                  <a:srgbClr val="C8942A"/>
                </a:solidFill>
                <a:latin typeface="Cambria" pitchFamily="34" charset="0"/>
                <a:ea typeface="Cambria" pitchFamily="34" charset="-122"/>
                <a:cs typeface="Cambria" pitchFamily="34" charset="-120"/>
              </a:rPr>
              <a:t>03</a:t>
            </a:r>
            <a:endParaRPr lang="en-US" sz="3000" dirty="0"/>
          </a:p>
        </p:txBody>
      </p:sp>
      <p:sp>
        <p:nvSpPr>
          <p:cNvPr id="18" name="Text 16"/>
          <p:cNvSpPr/>
          <p:nvPr/>
        </p:nvSpPr>
        <p:spPr>
          <a:xfrm>
            <a:off x="8065008" y="1207008"/>
            <a:ext cx="594360" cy="594360"/>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19" name="Text 17"/>
          <p:cNvSpPr/>
          <p:nvPr/>
        </p:nvSpPr>
        <p:spPr>
          <a:xfrm>
            <a:off x="6190488" y="1874520"/>
            <a:ext cx="2423160" cy="685800"/>
          </a:xfrm>
          <a:prstGeom prst="rect">
            <a:avLst/>
          </a:prstGeom>
          <a:noFill/>
          <a:ln/>
        </p:spPr>
        <p:txBody>
          <a:bodyPr wrap="square" lIns="0" tIns="0" rIns="0" bIns="0" rtlCol="0" anchor="t"/>
          <a:lstStyle/>
          <a:p>
            <a:pPr marL="0" indent="0">
              <a:buNone/>
            </a:pPr>
            <a:r>
              <a:rPr lang="en-US" sz="1400" b="1" dirty="0" err="1">
                <a:solidFill>
                  <a:srgbClr val="4E2C0E"/>
                </a:solidFill>
                <a:latin typeface="Cambria" pitchFamily="34" charset="0"/>
                <a:ea typeface="Cambria" pitchFamily="34" charset="-122"/>
                <a:cs typeface="Cambria" pitchFamily="34" charset="-120"/>
              </a:rPr>
              <a:t>Pedido</a:t>
            </a:r>
            <a:r>
              <a:rPr lang="en-US" sz="1400" b="1" dirty="0">
                <a:solidFill>
                  <a:srgbClr val="4E2C0E"/>
                </a:solidFill>
                <a:latin typeface="Cambria" pitchFamily="34" charset="0"/>
                <a:ea typeface="Cambria" pitchFamily="34" charset="-122"/>
                <a:cs typeface="Cambria" pitchFamily="34" charset="-120"/>
              </a:rPr>
              <a:t> </a:t>
            </a:r>
            <a:r>
              <a:rPr lang="en-US" sz="1400" b="1" dirty="0" err="1">
                <a:solidFill>
                  <a:srgbClr val="4E2C0E"/>
                </a:solidFill>
                <a:latin typeface="Cambria" pitchFamily="34" charset="0"/>
                <a:ea typeface="Cambria" pitchFamily="34" charset="-122"/>
                <a:cs typeface="Cambria" pitchFamily="34" charset="-120"/>
              </a:rPr>
              <a:t>óptimo</a:t>
            </a:r>
            <a:endParaRPr lang="en-US" sz="1400" dirty="0"/>
          </a:p>
          <a:p>
            <a:pPr marL="0" indent="0">
              <a:buNone/>
            </a:pPr>
            <a:r>
              <a:rPr lang="en-US" sz="1400" b="1" dirty="0">
                <a:solidFill>
                  <a:srgbClr val="4E2C0E"/>
                </a:solidFill>
                <a:latin typeface="Cambria" pitchFamily="34" charset="0"/>
                <a:ea typeface="Cambria" pitchFamily="34" charset="-122"/>
                <a:cs typeface="Cambria" pitchFamily="34" charset="-120"/>
              </a:rPr>
              <a:t>“Newsvendor”</a:t>
            </a:r>
            <a:endParaRPr lang="en-US" sz="1400" dirty="0"/>
          </a:p>
        </p:txBody>
      </p:sp>
      <p:sp>
        <p:nvSpPr>
          <p:cNvPr id="20" name="Text 18"/>
          <p:cNvSpPr/>
          <p:nvPr/>
        </p:nvSpPr>
        <p:spPr>
          <a:xfrm>
            <a:off x="6190488" y="2578608"/>
            <a:ext cx="2423160" cy="2057400"/>
          </a:xfrm>
          <a:prstGeom prst="rect">
            <a:avLst/>
          </a:prstGeom>
          <a:noFill/>
          <a:ln/>
        </p:spPr>
        <p:txBody>
          <a:bodyPr wrap="square" lIns="0" tIns="0" rIns="0" bIns="0" rtlCol="0" anchor="t"/>
          <a:lstStyle/>
          <a:p>
            <a:pPr marL="0" indent="0">
              <a:buNone/>
            </a:pPr>
            <a:r>
              <a:rPr lang="en-US" sz="1050" dirty="0">
                <a:solidFill>
                  <a:srgbClr val="444444"/>
                </a:solidFill>
                <a:latin typeface="Calibri" pitchFamily="34" charset="0"/>
                <a:ea typeface="Calibri" pitchFamily="34" charset="-122"/>
                <a:cs typeface="Calibri" pitchFamily="34" charset="-120"/>
              </a:rPr>
              <a:t>El fractil critico τ* = Margen / (Margen + Almacenamiento) determina cuanto pedir. Productos de alto margen reciben </a:t>
            </a:r>
            <a:r>
              <a:rPr lang="en-US" sz="1050" dirty="0" err="1">
                <a:solidFill>
                  <a:srgbClr val="444444"/>
                </a:solidFill>
                <a:latin typeface="Calibri" pitchFamily="34" charset="0"/>
                <a:ea typeface="Calibri" pitchFamily="34" charset="-122"/>
                <a:cs typeface="Calibri" pitchFamily="34" charset="-120"/>
              </a:rPr>
              <a:t>pedidos</a:t>
            </a:r>
            <a:r>
              <a:rPr lang="en-US" sz="1050" dirty="0">
                <a:solidFill>
                  <a:srgbClr val="444444"/>
                </a:solidFill>
                <a:latin typeface="Calibri" pitchFamily="34" charset="0"/>
                <a:ea typeface="Calibri" pitchFamily="34" charset="-122"/>
                <a:cs typeface="Calibri" pitchFamily="34" charset="-120"/>
              </a:rPr>
              <a:t> </a:t>
            </a:r>
            <a:r>
              <a:rPr lang="en-US" sz="1050" dirty="0" err="1">
                <a:solidFill>
                  <a:srgbClr val="444444"/>
                </a:solidFill>
                <a:latin typeface="Calibri" pitchFamily="34" charset="0"/>
                <a:ea typeface="Calibri" pitchFamily="34" charset="-122"/>
                <a:cs typeface="Calibri" pitchFamily="34" charset="-120"/>
              </a:rPr>
              <a:t>más</a:t>
            </a:r>
            <a:r>
              <a:rPr lang="en-US" sz="1050" dirty="0">
                <a:solidFill>
                  <a:srgbClr val="444444"/>
                </a:solidFill>
                <a:latin typeface="Calibri" pitchFamily="34" charset="0"/>
                <a:ea typeface="Calibri" pitchFamily="34" charset="-122"/>
                <a:cs typeface="Calibri" pitchFamily="34" charset="-120"/>
              </a:rPr>
              <a:t> agresivos — </a:t>
            </a:r>
            <a:r>
              <a:rPr lang="en-US" sz="1050" dirty="0" err="1">
                <a:solidFill>
                  <a:srgbClr val="444444"/>
                </a:solidFill>
                <a:latin typeface="Calibri" pitchFamily="34" charset="0"/>
                <a:ea typeface="Calibri" pitchFamily="34" charset="-122"/>
                <a:cs typeface="Calibri" pitchFamily="34" charset="-120"/>
              </a:rPr>
              <a:t>automáticamente</a:t>
            </a:r>
            <a:r>
              <a:rPr lang="en-US" sz="1050" dirty="0">
                <a:solidFill>
                  <a:srgbClr val="444444"/>
                </a:solidFill>
                <a:latin typeface="Calibri" pitchFamily="34" charset="0"/>
                <a:ea typeface="Calibri" pitchFamily="34" charset="-122"/>
                <a:cs typeface="Calibri" pitchFamily="34" charset="-120"/>
              </a:rPr>
              <a:t>.</a:t>
            </a:r>
            <a:endParaRPr lang="en-US" sz="1050" dirty="0"/>
          </a:p>
          <a:p>
            <a:pPr marL="0" indent="0">
              <a:buNone/>
            </a:pPr>
            <a:endParaRPr lang="en-US" sz="1050" dirty="0"/>
          </a:p>
          <a:p>
            <a:pPr marL="0" indent="0">
              <a:buNone/>
            </a:pPr>
            <a:r>
              <a:rPr lang="en-US" sz="1050" dirty="0">
                <a:solidFill>
                  <a:srgbClr val="444444"/>
                </a:solidFill>
                <a:latin typeface="Calibri" pitchFamily="34" charset="0"/>
                <a:ea typeface="Calibri" pitchFamily="34" charset="-122"/>
                <a:cs typeface="Calibri" pitchFamily="34" charset="-120"/>
              </a:rPr>
              <a:t>Pedido recomendado = Q* − Stock actual.</a:t>
            </a:r>
            <a:endParaRPr lang="en-US" sz="1050" dirty="0"/>
          </a:p>
        </p:txBody>
      </p:sp>
      <p:sp>
        <p:nvSpPr>
          <p:cNvPr id="21" name="Text 19"/>
          <p:cNvSpPr/>
          <p:nvPr/>
        </p:nvSpPr>
        <p:spPr>
          <a:xfrm>
            <a:off x="384048" y="4828032"/>
            <a:ext cx="8375904" cy="228600"/>
          </a:xfrm>
          <a:prstGeom prst="rect">
            <a:avLst/>
          </a:prstGeom>
          <a:noFill/>
          <a:ln/>
        </p:spPr>
        <p:txBody>
          <a:bodyPr wrap="square" lIns="0" tIns="0" rIns="0" bIns="0" rtlCol="0" anchor="ctr"/>
          <a:lstStyle/>
          <a:p>
            <a:pPr marL="0" indent="0" algn="ctr">
              <a:buNone/>
            </a:pPr>
            <a:r>
              <a:rPr lang="en-US" sz="900" i="1" dirty="0">
                <a:solidFill>
                  <a:srgbClr val="6B6B6B"/>
                </a:solidFill>
                <a:latin typeface="Calibri" pitchFamily="34" charset="0"/>
                <a:ea typeface="Calibri" pitchFamily="34" charset="-122"/>
                <a:cs typeface="Calibri" pitchFamily="34" charset="-120"/>
              </a:rPr>
              <a:t>Validacion: Walk-Forward Cross-Validation (3 folds x 7 dias) — sin data leakage temporal</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256032"/>
            <a:ext cx="8321040" cy="256032"/>
          </a:xfrm>
          <a:prstGeom prst="rect">
            <a:avLst/>
          </a:prstGeom>
          <a:noFill/>
          <a:ln/>
        </p:spPr>
        <p:txBody>
          <a:bodyPr wrap="square" lIns="0" tIns="0" rIns="0" bIns="0" rtlCol="0" anchor="ctr"/>
          <a:lstStyle/>
          <a:p>
            <a:pPr marL="0" indent="0">
              <a:buNone/>
            </a:pPr>
            <a:r>
              <a:rPr lang="en-US" sz="900" b="1" kern="0" spc="500" dirty="0">
                <a:solidFill>
                  <a:srgbClr val="C8942A"/>
                </a:solidFill>
                <a:latin typeface="Calibri" pitchFamily="34" charset="0"/>
                <a:ea typeface="Calibri" pitchFamily="34" charset="-122"/>
                <a:cs typeface="Calibri" pitchFamily="34" charset="-120"/>
              </a:rPr>
              <a:t>RESULTADOS</a:t>
            </a:r>
            <a:endParaRPr lang="en-US" sz="900" dirty="0"/>
          </a:p>
        </p:txBody>
      </p:sp>
      <p:sp>
        <p:nvSpPr>
          <p:cNvPr id="3" name="Text 1"/>
          <p:cNvSpPr/>
          <p:nvPr/>
        </p:nvSpPr>
        <p:spPr>
          <a:xfrm>
            <a:off x="411480" y="484632"/>
            <a:ext cx="8321040" cy="566928"/>
          </a:xfrm>
          <a:prstGeom prst="rect">
            <a:avLst/>
          </a:prstGeom>
          <a:noFill/>
          <a:ln/>
        </p:spPr>
        <p:txBody>
          <a:bodyPr wrap="square" lIns="0" tIns="0" rIns="0" bIns="0" rtlCol="0" anchor="ctr"/>
          <a:lstStyle/>
          <a:p>
            <a:pPr marL="0" indent="0">
              <a:buNone/>
            </a:pPr>
            <a:r>
              <a:rPr lang="en-US" sz="2800" b="1" dirty="0">
                <a:solidFill>
                  <a:srgbClr val="4E2C0E"/>
                </a:solidFill>
                <a:latin typeface="Cambria" pitchFamily="34" charset="0"/>
                <a:ea typeface="Cambria" pitchFamily="34" charset="-122"/>
                <a:cs typeface="Cambria" pitchFamily="34" charset="-120"/>
              </a:rPr>
              <a:t>Modelo validado e impacto cuantificado</a:t>
            </a:r>
            <a:endParaRPr lang="en-US" sz="2800" dirty="0"/>
          </a:p>
        </p:txBody>
      </p:sp>
      <p:sp>
        <p:nvSpPr>
          <p:cNvPr id="4" name="Shape 2"/>
          <p:cNvSpPr/>
          <p:nvPr/>
        </p:nvSpPr>
        <p:spPr>
          <a:xfrm>
            <a:off x="384048" y="1188720"/>
            <a:ext cx="1938528" cy="1280160"/>
          </a:xfrm>
          <a:prstGeom prst="roundRect">
            <a:avLst>
              <a:gd name="adj" fmla="val 7143"/>
            </a:avLst>
          </a:prstGeom>
          <a:solidFill>
            <a:srgbClr val="F0F0F0"/>
          </a:solidFill>
          <a:ln/>
          <a:effectLst>
            <a:outerShdw blurRad="101600" dist="38100" dir="2700000" algn="bl" rotWithShape="0">
              <a:srgbClr val="000000">
                <a:alpha val="12000"/>
              </a:srgbClr>
            </a:outerShdw>
          </a:effectLst>
        </p:spPr>
        <p:txBody>
          <a:bodyPr/>
          <a:lstStyle/>
          <a:p>
            <a:endParaRPr lang="es-CO"/>
          </a:p>
        </p:txBody>
      </p:sp>
      <p:sp>
        <p:nvSpPr>
          <p:cNvPr id="5" name="Text 3"/>
          <p:cNvSpPr/>
          <p:nvPr/>
        </p:nvSpPr>
        <p:spPr>
          <a:xfrm>
            <a:off x="457200" y="1243584"/>
            <a:ext cx="1792224" cy="658368"/>
          </a:xfrm>
          <a:prstGeom prst="rect">
            <a:avLst/>
          </a:prstGeom>
          <a:noFill/>
          <a:ln/>
        </p:spPr>
        <p:txBody>
          <a:bodyPr wrap="square" lIns="0" tIns="0" rIns="0" bIns="0" rtlCol="0" anchor="ctr"/>
          <a:lstStyle/>
          <a:p>
            <a:pPr marL="0" indent="0" algn="ctr">
              <a:buNone/>
            </a:pPr>
            <a:r>
              <a:rPr lang="en-US" sz="3400" b="1" dirty="0">
                <a:solidFill>
                  <a:srgbClr val="4E2C0E"/>
                </a:solidFill>
                <a:latin typeface="Cambria" pitchFamily="34" charset="0"/>
                <a:ea typeface="Cambria" pitchFamily="34" charset="-122"/>
                <a:cs typeface="Cambria" pitchFamily="34" charset="-120"/>
              </a:rPr>
              <a:t>26%</a:t>
            </a:r>
            <a:endParaRPr lang="en-US" sz="3400" dirty="0"/>
          </a:p>
        </p:txBody>
      </p:sp>
      <p:sp>
        <p:nvSpPr>
          <p:cNvPr id="6" name="Text 4"/>
          <p:cNvSpPr/>
          <p:nvPr/>
        </p:nvSpPr>
        <p:spPr>
          <a:xfrm>
            <a:off x="457200" y="1883664"/>
            <a:ext cx="1792224" cy="512064"/>
          </a:xfrm>
          <a:prstGeom prst="rect">
            <a:avLst/>
          </a:prstGeom>
          <a:noFill/>
          <a:ln/>
        </p:spPr>
        <p:txBody>
          <a:bodyPr wrap="square" lIns="0" tIns="0" rIns="0" bIns="0" rtlCol="0" anchor="t"/>
          <a:lstStyle/>
          <a:p>
            <a:pPr marL="0" indent="0" algn="ctr">
              <a:buNone/>
            </a:pPr>
            <a:r>
              <a:rPr lang="en-US" sz="950" dirty="0">
                <a:solidFill>
                  <a:srgbClr val="6B6B6B"/>
                </a:solidFill>
                <a:latin typeface="Calibri" pitchFamily="34" charset="0"/>
                <a:ea typeface="Calibri" pitchFamily="34" charset="-122"/>
                <a:cs typeface="Calibri" pitchFamily="34" charset="-120"/>
              </a:rPr>
              <a:t>WAPE del modelo</a:t>
            </a:r>
            <a:endParaRPr lang="en-US" sz="950" dirty="0"/>
          </a:p>
          <a:p>
            <a:pPr marL="0" indent="0" algn="ctr">
              <a:buNone/>
            </a:pPr>
            <a:r>
              <a:rPr lang="en-US" sz="950" dirty="0">
                <a:solidFill>
                  <a:srgbClr val="6B6B6B"/>
                </a:solidFill>
                <a:latin typeface="Calibri" pitchFamily="34" charset="0"/>
                <a:ea typeface="Calibri" pitchFamily="34" charset="-122"/>
                <a:cs typeface="Calibri" pitchFamily="34" charset="-120"/>
              </a:rPr>
              <a:t>(error ponderado)</a:t>
            </a:r>
            <a:endParaRPr lang="en-US" sz="950" dirty="0"/>
          </a:p>
        </p:txBody>
      </p:sp>
      <p:sp>
        <p:nvSpPr>
          <p:cNvPr id="7" name="Shape 5"/>
          <p:cNvSpPr/>
          <p:nvPr/>
        </p:nvSpPr>
        <p:spPr>
          <a:xfrm>
            <a:off x="2487168" y="1188720"/>
            <a:ext cx="1938528" cy="1280160"/>
          </a:xfrm>
          <a:prstGeom prst="roundRect">
            <a:avLst>
              <a:gd name="adj" fmla="val 7143"/>
            </a:avLst>
          </a:prstGeom>
          <a:solidFill>
            <a:srgbClr val="F0F0F0"/>
          </a:solidFill>
          <a:ln/>
          <a:effectLst>
            <a:outerShdw blurRad="101600" dist="38100" dir="2700000" algn="bl" rotWithShape="0">
              <a:srgbClr val="000000">
                <a:alpha val="12000"/>
              </a:srgbClr>
            </a:outerShdw>
          </a:effectLst>
        </p:spPr>
        <p:txBody>
          <a:bodyPr/>
          <a:lstStyle/>
          <a:p>
            <a:endParaRPr lang="es-CO"/>
          </a:p>
        </p:txBody>
      </p:sp>
      <p:sp>
        <p:nvSpPr>
          <p:cNvPr id="8" name="Text 6"/>
          <p:cNvSpPr/>
          <p:nvPr/>
        </p:nvSpPr>
        <p:spPr>
          <a:xfrm>
            <a:off x="2560320" y="1243584"/>
            <a:ext cx="1792224" cy="658368"/>
          </a:xfrm>
          <a:prstGeom prst="rect">
            <a:avLst/>
          </a:prstGeom>
          <a:noFill/>
          <a:ln/>
        </p:spPr>
        <p:txBody>
          <a:bodyPr wrap="square" lIns="0" tIns="0" rIns="0" bIns="0" rtlCol="0" anchor="ctr"/>
          <a:lstStyle/>
          <a:p>
            <a:pPr marL="0" indent="0" algn="ctr">
              <a:buNone/>
            </a:pPr>
            <a:r>
              <a:rPr lang="en-US" sz="3400" b="1" dirty="0">
                <a:solidFill>
                  <a:srgbClr val="4E2C0E"/>
                </a:solidFill>
                <a:latin typeface="Cambria" pitchFamily="34" charset="0"/>
                <a:ea typeface="Cambria" pitchFamily="34" charset="-122"/>
                <a:cs typeface="Cambria" pitchFamily="34" charset="-120"/>
              </a:rPr>
              <a:t>3.5</a:t>
            </a:r>
            <a:endParaRPr lang="en-US" sz="3400" dirty="0"/>
          </a:p>
        </p:txBody>
      </p:sp>
      <p:sp>
        <p:nvSpPr>
          <p:cNvPr id="9" name="Text 7"/>
          <p:cNvSpPr/>
          <p:nvPr/>
        </p:nvSpPr>
        <p:spPr>
          <a:xfrm>
            <a:off x="2560320" y="1883664"/>
            <a:ext cx="1792224" cy="512064"/>
          </a:xfrm>
          <a:prstGeom prst="rect">
            <a:avLst/>
          </a:prstGeom>
          <a:noFill/>
          <a:ln/>
        </p:spPr>
        <p:txBody>
          <a:bodyPr wrap="square" lIns="0" tIns="0" rIns="0" bIns="0" rtlCol="0" anchor="t"/>
          <a:lstStyle/>
          <a:p>
            <a:pPr marL="0" indent="0" algn="ctr">
              <a:buNone/>
            </a:pPr>
            <a:r>
              <a:rPr lang="en-US" sz="950" dirty="0">
                <a:solidFill>
                  <a:srgbClr val="6B6B6B"/>
                </a:solidFill>
                <a:latin typeface="Calibri" pitchFamily="34" charset="0"/>
                <a:ea typeface="Calibri" pitchFamily="34" charset="-122"/>
                <a:cs typeface="Calibri" pitchFamily="34" charset="-120"/>
              </a:rPr>
              <a:t>unidades/dia/serie</a:t>
            </a:r>
            <a:endParaRPr lang="en-US" sz="950" dirty="0"/>
          </a:p>
          <a:p>
            <a:pPr marL="0" indent="0" algn="ctr">
              <a:buNone/>
            </a:pPr>
            <a:r>
              <a:rPr lang="en-US" sz="950" dirty="0">
                <a:solidFill>
                  <a:srgbClr val="6B6B6B"/>
                </a:solidFill>
                <a:latin typeface="Calibri" pitchFamily="34" charset="0"/>
                <a:ea typeface="Calibri" pitchFamily="34" charset="-122"/>
                <a:cs typeface="Calibri" pitchFamily="34" charset="-120"/>
              </a:rPr>
              <a:t>de error promedio</a:t>
            </a:r>
            <a:endParaRPr lang="en-US" sz="950" dirty="0"/>
          </a:p>
        </p:txBody>
      </p:sp>
      <p:sp>
        <p:nvSpPr>
          <p:cNvPr id="10" name="Shape 8"/>
          <p:cNvSpPr/>
          <p:nvPr/>
        </p:nvSpPr>
        <p:spPr>
          <a:xfrm>
            <a:off x="4590288" y="1188720"/>
            <a:ext cx="1938528" cy="1280160"/>
          </a:xfrm>
          <a:prstGeom prst="roundRect">
            <a:avLst>
              <a:gd name="adj" fmla="val 7143"/>
            </a:avLst>
          </a:prstGeom>
          <a:solidFill>
            <a:srgbClr val="F0F7EE"/>
          </a:solidFill>
          <a:ln/>
          <a:effectLst>
            <a:outerShdw blurRad="101600" dist="38100" dir="2700000" algn="bl" rotWithShape="0">
              <a:srgbClr val="000000">
                <a:alpha val="12000"/>
              </a:srgbClr>
            </a:outerShdw>
          </a:effectLst>
        </p:spPr>
        <p:txBody>
          <a:bodyPr/>
          <a:lstStyle/>
          <a:p>
            <a:endParaRPr lang="es-CO"/>
          </a:p>
        </p:txBody>
      </p:sp>
      <p:sp>
        <p:nvSpPr>
          <p:cNvPr id="11" name="Text 9"/>
          <p:cNvSpPr/>
          <p:nvPr/>
        </p:nvSpPr>
        <p:spPr>
          <a:xfrm>
            <a:off x="4663440" y="1243584"/>
            <a:ext cx="1792224" cy="658368"/>
          </a:xfrm>
          <a:prstGeom prst="rect">
            <a:avLst/>
          </a:prstGeom>
          <a:noFill/>
          <a:ln/>
        </p:spPr>
        <p:txBody>
          <a:bodyPr wrap="square" lIns="0" tIns="0" rIns="0" bIns="0" rtlCol="0" anchor="ctr"/>
          <a:lstStyle/>
          <a:p>
            <a:pPr marL="0" indent="0" algn="ctr">
              <a:buNone/>
            </a:pPr>
            <a:r>
              <a:rPr lang="en-US" sz="3400" b="1" dirty="0">
                <a:solidFill>
                  <a:srgbClr val="5C7A3E"/>
                </a:solidFill>
                <a:latin typeface="Cambria" pitchFamily="34" charset="0"/>
                <a:ea typeface="Cambria" pitchFamily="34" charset="-122"/>
                <a:cs typeface="Cambria" pitchFamily="34" charset="-120"/>
              </a:rPr>
              <a:t>$4.2M</a:t>
            </a:r>
            <a:endParaRPr lang="en-US" sz="3400" dirty="0"/>
          </a:p>
        </p:txBody>
      </p:sp>
      <p:sp>
        <p:nvSpPr>
          <p:cNvPr id="12" name="Text 10"/>
          <p:cNvSpPr/>
          <p:nvPr/>
        </p:nvSpPr>
        <p:spPr>
          <a:xfrm>
            <a:off x="4663440" y="1883664"/>
            <a:ext cx="1792224" cy="512064"/>
          </a:xfrm>
          <a:prstGeom prst="rect">
            <a:avLst/>
          </a:prstGeom>
          <a:noFill/>
          <a:ln/>
        </p:spPr>
        <p:txBody>
          <a:bodyPr wrap="square" lIns="0" tIns="0" rIns="0" bIns="0" rtlCol="0" anchor="t"/>
          <a:lstStyle/>
          <a:p>
            <a:pPr marL="0" indent="0" algn="ctr">
              <a:buNone/>
            </a:pPr>
            <a:r>
              <a:rPr lang="en-US" sz="950" dirty="0">
                <a:solidFill>
                  <a:srgbClr val="6B6B6B"/>
                </a:solidFill>
                <a:latin typeface="Calibri" pitchFamily="34" charset="0"/>
                <a:ea typeface="Calibri" pitchFamily="34" charset="-122"/>
                <a:cs typeface="Calibri" pitchFamily="34" charset="-120"/>
              </a:rPr>
              <a:t>COP ahorro semanal</a:t>
            </a:r>
            <a:endParaRPr lang="en-US" sz="950" dirty="0"/>
          </a:p>
          <a:p>
            <a:pPr marL="0" indent="0" algn="ctr">
              <a:buNone/>
            </a:pPr>
            <a:r>
              <a:rPr lang="en-US" sz="950" dirty="0">
                <a:solidFill>
                  <a:srgbClr val="6B6B6B"/>
                </a:solidFill>
                <a:latin typeface="Calibri" pitchFamily="34" charset="0"/>
                <a:ea typeface="Calibri" pitchFamily="34" charset="-122"/>
                <a:cs typeface="Calibri" pitchFamily="34" charset="-120"/>
              </a:rPr>
              <a:t>(politica optima vs. naive)</a:t>
            </a:r>
            <a:endParaRPr lang="en-US" sz="950" dirty="0"/>
          </a:p>
        </p:txBody>
      </p:sp>
      <p:sp>
        <p:nvSpPr>
          <p:cNvPr id="13" name="Shape 11"/>
          <p:cNvSpPr/>
          <p:nvPr/>
        </p:nvSpPr>
        <p:spPr>
          <a:xfrm>
            <a:off x="6693408" y="1188720"/>
            <a:ext cx="1938528" cy="1280160"/>
          </a:xfrm>
          <a:prstGeom prst="roundRect">
            <a:avLst>
              <a:gd name="adj" fmla="val 7143"/>
            </a:avLst>
          </a:prstGeom>
          <a:solidFill>
            <a:srgbClr val="F0F7EE"/>
          </a:solidFill>
          <a:ln/>
          <a:effectLst>
            <a:outerShdw blurRad="101600" dist="38100" dir="2700000" algn="bl" rotWithShape="0">
              <a:srgbClr val="000000">
                <a:alpha val="12000"/>
              </a:srgbClr>
            </a:outerShdw>
          </a:effectLst>
        </p:spPr>
        <p:txBody>
          <a:bodyPr/>
          <a:lstStyle/>
          <a:p>
            <a:endParaRPr lang="es-CO"/>
          </a:p>
        </p:txBody>
      </p:sp>
      <p:sp>
        <p:nvSpPr>
          <p:cNvPr id="14" name="Text 12"/>
          <p:cNvSpPr/>
          <p:nvPr/>
        </p:nvSpPr>
        <p:spPr>
          <a:xfrm>
            <a:off x="6766560" y="1243584"/>
            <a:ext cx="1792224" cy="658368"/>
          </a:xfrm>
          <a:prstGeom prst="rect">
            <a:avLst/>
          </a:prstGeom>
          <a:noFill/>
          <a:ln/>
        </p:spPr>
        <p:txBody>
          <a:bodyPr wrap="square" lIns="0" tIns="0" rIns="0" bIns="0" rtlCol="0" anchor="ctr"/>
          <a:lstStyle/>
          <a:p>
            <a:pPr marL="0" indent="0" algn="ctr">
              <a:buNone/>
            </a:pPr>
            <a:r>
              <a:rPr lang="en-US" sz="3400" b="1" dirty="0">
                <a:solidFill>
                  <a:srgbClr val="5C7A3E"/>
                </a:solidFill>
                <a:latin typeface="Cambria" pitchFamily="34" charset="0"/>
                <a:ea typeface="Cambria" pitchFamily="34" charset="-122"/>
                <a:cs typeface="Cambria" pitchFamily="34" charset="-120"/>
              </a:rPr>
              <a:t>$220M</a:t>
            </a:r>
            <a:endParaRPr lang="en-US" sz="3400" dirty="0"/>
          </a:p>
        </p:txBody>
      </p:sp>
      <p:sp>
        <p:nvSpPr>
          <p:cNvPr id="15" name="Text 13"/>
          <p:cNvSpPr/>
          <p:nvPr/>
        </p:nvSpPr>
        <p:spPr>
          <a:xfrm>
            <a:off x="6766560" y="1883664"/>
            <a:ext cx="1792224" cy="512064"/>
          </a:xfrm>
          <a:prstGeom prst="rect">
            <a:avLst/>
          </a:prstGeom>
          <a:noFill/>
          <a:ln/>
        </p:spPr>
        <p:txBody>
          <a:bodyPr wrap="square" lIns="0" tIns="0" rIns="0" bIns="0" rtlCol="0" anchor="t"/>
          <a:lstStyle/>
          <a:p>
            <a:pPr marL="0" indent="0" algn="ctr">
              <a:buNone/>
            </a:pPr>
            <a:r>
              <a:rPr lang="en-US" sz="950" dirty="0">
                <a:solidFill>
                  <a:srgbClr val="6B6B6B"/>
                </a:solidFill>
                <a:latin typeface="Calibri" pitchFamily="34" charset="0"/>
                <a:ea typeface="Calibri" pitchFamily="34" charset="-122"/>
                <a:cs typeface="Calibri" pitchFamily="34" charset="-120"/>
              </a:rPr>
              <a:t>COP ahorro anual</a:t>
            </a:r>
            <a:endParaRPr lang="en-US" sz="950" dirty="0"/>
          </a:p>
          <a:p>
            <a:pPr marL="0" indent="0" algn="ctr">
              <a:buNone/>
            </a:pPr>
            <a:r>
              <a:rPr lang="en-US" sz="950" dirty="0">
                <a:solidFill>
                  <a:srgbClr val="6B6B6B"/>
                </a:solidFill>
                <a:latin typeface="Calibri" pitchFamily="34" charset="0"/>
                <a:ea typeface="Calibri" pitchFamily="34" charset="-122"/>
                <a:cs typeface="Calibri" pitchFamily="34" charset="-120"/>
              </a:rPr>
              <a:t>estimado (20 tiendas)</a:t>
            </a:r>
            <a:endParaRPr lang="en-US" sz="950" dirty="0"/>
          </a:p>
        </p:txBody>
      </p:sp>
      <p:graphicFrame>
        <p:nvGraphicFramePr>
          <p:cNvPr id="16" name="Chart 0"/>
          <p:cNvGraphicFramePr/>
          <p:nvPr/>
        </p:nvGraphicFramePr>
        <p:xfrm>
          <a:off x="384048" y="2606040"/>
          <a:ext cx="5212080" cy="2377440"/>
        </p:xfrm>
        <a:graphic>
          <a:graphicData uri="http://schemas.openxmlformats.org/drawingml/2006/chart">
            <c:chart xmlns:c="http://schemas.openxmlformats.org/drawingml/2006/chart" xmlns:r="http://schemas.openxmlformats.org/officeDocument/2006/relationships" r:id="rId3"/>
          </a:graphicData>
        </a:graphic>
      </p:graphicFrame>
      <p:sp>
        <p:nvSpPr>
          <p:cNvPr id="17" name="Shape 14"/>
          <p:cNvSpPr/>
          <p:nvPr/>
        </p:nvSpPr>
        <p:spPr>
          <a:xfrm>
            <a:off x="5806440" y="2606040"/>
            <a:ext cx="2926080" cy="2377440"/>
          </a:xfrm>
          <a:prstGeom prst="roundRect">
            <a:avLst>
              <a:gd name="adj" fmla="val 3846"/>
            </a:avLst>
          </a:prstGeom>
          <a:solidFill>
            <a:srgbClr val="F0F0F0"/>
          </a:solidFill>
          <a:ln/>
          <a:effectLst>
            <a:outerShdw blurRad="101600" dist="38100" dir="2700000" algn="bl" rotWithShape="0">
              <a:srgbClr val="000000">
                <a:alpha val="12000"/>
              </a:srgbClr>
            </a:outerShdw>
          </a:effectLst>
        </p:spPr>
        <p:txBody>
          <a:bodyPr/>
          <a:lstStyle/>
          <a:p>
            <a:endParaRPr lang="es-CO"/>
          </a:p>
        </p:txBody>
      </p:sp>
      <p:sp>
        <p:nvSpPr>
          <p:cNvPr id="18" name="Text 15"/>
          <p:cNvSpPr/>
          <p:nvPr/>
        </p:nvSpPr>
        <p:spPr>
          <a:xfrm>
            <a:off x="5943600" y="2697480"/>
            <a:ext cx="2651760" cy="347472"/>
          </a:xfrm>
          <a:prstGeom prst="rect">
            <a:avLst/>
          </a:prstGeom>
          <a:noFill/>
          <a:ln/>
        </p:spPr>
        <p:txBody>
          <a:bodyPr wrap="square" lIns="0" tIns="0" rIns="0" bIns="0" rtlCol="0" anchor="ctr"/>
          <a:lstStyle/>
          <a:p>
            <a:pPr marL="0" indent="0">
              <a:buNone/>
            </a:pPr>
            <a:r>
              <a:rPr lang="en-US" sz="1200" b="1" dirty="0">
                <a:solidFill>
                  <a:srgbClr val="4E2C0E"/>
                </a:solidFill>
                <a:latin typeface="Cambria" pitchFamily="34" charset="0"/>
                <a:ea typeface="Cambria" pitchFamily="34" charset="-122"/>
                <a:cs typeface="Cambria" pitchFamily="34" charset="-120"/>
              </a:rPr>
              <a:t>Validacion Walk-Forward</a:t>
            </a:r>
            <a:endParaRPr lang="en-US" sz="1200" dirty="0"/>
          </a:p>
        </p:txBody>
      </p:sp>
      <p:sp>
        <p:nvSpPr>
          <p:cNvPr id="19" name="Text 16"/>
          <p:cNvSpPr/>
          <p:nvPr/>
        </p:nvSpPr>
        <p:spPr>
          <a:xfrm>
            <a:off x="5943600" y="3044952"/>
            <a:ext cx="2651760" cy="256032"/>
          </a:xfrm>
          <a:prstGeom prst="rect">
            <a:avLst/>
          </a:prstGeom>
          <a:noFill/>
          <a:ln/>
        </p:spPr>
        <p:txBody>
          <a:bodyPr wrap="square" lIns="0" tIns="0" rIns="0" bIns="0" rtlCol="0" anchor="ctr"/>
          <a:lstStyle/>
          <a:p>
            <a:pPr marL="0" indent="0">
              <a:buNone/>
            </a:pPr>
            <a:r>
              <a:rPr lang="en-US" sz="950" dirty="0">
                <a:solidFill>
                  <a:srgbClr val="6B6B6B"/>
                </a:solidFill>
                <a:latin typeface="Calibri" pitchFamily="34" charset="0"/>
                <a:ea typeface="Calibri" pitchFamily="34" charset="-122"/>
                <a:cs typeface="Calibri" pitchFamily="34" charset="-120"/>
              </a:rPr>
              <a:t>3 folds de 7 dias cada uno:</a:t>
            </a:r>
            <a:endParaRPr lang="en-US" sz="950" dirty="0"/>
          </a:p>
        </p:txBody>
      </p:sp>
      <p:sp>
        <p:nvSpPr>
          <p:cNvPr id="20" name="Shape 17"/>
          <p:cNvSpPr/>
          <p:nvPr/>
        </p:nvSpPr>
        <p:spPr>
          <a:xfrm>
            <a:off x="5925312" y="3364992"/>
            <a:ext cx="2688336" cy="365760"/>
          </a:xfrm>
          <a:prstGeom prst="roundRect">
            <a:avLst>
              <a:gd name="adj" fmla="val 15000"/>
            </a:avLst>
          </a:prstGeom>
          <a:solidFill>
            <a:srgbClr val="FFFFFF"/>
          </a:solidFill>
          <a:ln/>
        </p:spPr>
        <p:txBody>
          <a:bodyPr/>
          <a:lstStyle/>
          <a:p>
            <a:endParaRPr lang="es-CO"/>
          </a:p>
        </p:txBody>
      </p:sp>
      <p:sp>
        <p:nvSpPr>
          <p:cNvPr id="21" name="Text 18"/>
          <p:cNvSpPr/>
          <p:nvPr/>
        </p:nvSpPr>
        <p:spPr>
          <a:xfrm>
            <a:off x="6016752" y="3410712"/>
            <a:ext cx="1371600" cy="274320"/>
          </a:xfrm>
          <a:prstGeom prst="rect">
            <a:avLst/>
          </a:prstGeom>
          <a:noFill/>
          <a:ln/>
        </p:spPr>
        <p:txBody>
          <a:bodyPr wrap="square" lIns="0" tIns="0" rIns="0" bIns="0" rtlCol="0" anchor="ctr"/>
          <a:lstStyle/>
          <a:p>
            <a:pPr marL="0" indent="0">
              <a:buNone/>
            </a:pPr>
            <a:r>
              <a:rPr lang="en-US" sz="900" dirty="0">
                <a:solidFill>
                  <a:srgbClr val="444444"/>
                </a:solidFill>
                <a:latin typeface="Calibri" pitchFamily="34" charset="0"/>
                <a:ea typeface="Calibri" pitchFamily="34" charset="-122"/>
                <a:cs typeface="Calibri" pitchFamily="34" charset="-120"/>
              </a:rPr>
              <a:t>Fold 1  11–17 mar</a:t>
            </a:r>
            <a:endParaRPr lang="en-US" sz="900" dirty="0"/>
          </a:p>
        </p:txBody>
      </p:sp>
      <p:sp>
        <p:nvSpPr>
          <p:cNvPr id="22" name="Text 19"/>
          <p:cNvSpPr/>
          <p:nvPr/>
        </p:nvSpPr>
        <p:spPr>
          <a:xfrm>
            <a:off x="7205472" y="3410712"/>
            <a:ext cx="1325880" cy="274320"/>
          </a:xfrm>
          <a:prstGeom prst="rect">
            <a:avLst/>
          </a:prstGeom>
          <a:noFill/>
          <a:ln/>
        </p:spPr>
        <p:txBody>
          <a:bodyPr wrap="square" lIns="0" tIns="0" rIns="0" bIns="0" rtlCol="0" anchor="ctr"/>
          <a:lstStyle/>
          <a:p>
            <a:pPr marL="0" indent="0" algn="r">
              <a:buNone/>
            </a:pPr>
            <a:r>
              <a:rPr lang="en-US" sz="900" b="1" dirty="0">
                <a:solidFill>
                  <a:srgbClr val="5C7A3E"/>
                </a:solidFill>
                <a:latin typeface="Calibri" pitchFamily="34" charset="0"/>
                <a:ea typeface="Calibri" pitchFamily="34" charset="-122"/>
                <a:cs typeface="Calibri" pitchFamily="34" charset="-120"/>
              </a:rPr>
              <a:t>WAPE 26.7%  MAE 3.55</a:t>
            </a:r>
            <a:endParaRPr lang="en-US" sz="900" dirty="0"/>
          </a:p>
        </p:txBody>
      </p:sp>
      <p:sp>
        <p:nvSpPr>
          <p:cNvPr id="23" name="Shape 20"/>
          <p:cNvSpPr/>
          <p:nvPr/>
        </p:nvSpPr>
        <p:spPr>
          <a:xfrm>
            <a:off x="5925312" y="3822192"/>
            <a:ext cx="2688336" cy="365760"/>
          </a:xfrm>
          <a:prstGeom prst="roundRect">
            <a:avLst>
              <a:gd name="adj" fmla="val 15000"/>
            </a:avLst>
          </a:prstGeom>
          <a:solidFill>
            <a:srgbClr val="FFFFFF"/>
          </a:solidFill>
          <a:ln/>
        </p:spPr>
        <p:txBody>
          <a:bodyPr/>
          <a:lstStyle/>
          <a:p>
            <a:endParaRPr lang="es-CO"/>
          </a:p>
        </p:txBody>
      </p:sp>
      <p:sp>
        <p:nvSpPr>
          <p:cNvPr id="24" name="Text 21"/>
          <p:cNvSpPr/>
          <p:nvPr/>
        </p:nvSpPr>
        <p:spPr>
          <a:xfrm>
            <a:off x="6016752" y="3867912"/>
            <a:ext cx="1371600" cy="274320"/>
          </a:xfrm>
          <a:prstGeom prst="rect">
            <a:avLst/>
          </a:prstGeom>
          <a:noFill/>
          <a:ln/>
        </p:spPr>
        <p:txBody>
          <a:bodyPr wrap="square" lIns="0" tIns="0" rIns="0" bIns="0" rtlCol="0" anchor="ctr"/>
          <a:lstStyle/>
          <a:p>
            <a:pPr marL="0" indent="0">
              <a:buNone/>
            </a:pPr>
            <a:r>
              <a:rPr lang="en-US" sz="900" dirty="0">
                <a:solidFill>
                  <a:srgbClr val="444444"/>
                </a:solidFill>
                <a:latin typeface="Calibri" pitchFamily="34" charset="0"/>
                <a:ea typeface="Calibri" pitchFamily="34" charset="-122"/>
                <a:cs typeface="Calibri" pitchFamily="34" charset="-120"/>
              </a:rPr>
              <a:t>Fold 2  18–24 mar</a:t>
            </a:r>
            <a:endParaRPr lang="en-US" sz="900" dirty="0"/>
          </a:p>
        </p:txBody>
      </p:sp>
      <p:sp>
        <p:nvSpPr>
          <p:cNvPr id="25" name="Text 22"/>
          <p:cNvSpPr/>
          <p:nvPr/>
        </p:nvSpPr>
        <p:spPr>
          <a:xfrm>
            <a:off x="7205472" y="3867912"/>
            <a:ext cx="1325880" cy="274320"/>
          </a:xfrm>
          <a:prstGeom prst="rect">
            <a:avLst/>
          </a:prstGeom>
          <a:noFill/>
          <a:ln/>
        </p:spPr>
        <p:txBody>
          <a:bodyPr wrap="square" lIns="0" tIns="0" rIns="0" bIns="0" rtlCol="0" anchor="ctr"/>
          <a:lstStyle/>
          <a:p>
            <a:pPr marL="0" indent="0" algn="r">
              <a:buNone/>
            </a:pPr>
            <a:r>
              <a:rPr lang="en-US" sz="900" b="1" dirty="0">
                <a:solidFill>
                  <a:srgbClr val="5C7A3E"/>
                </a:solidFill>
                <a:latin typeface="Calibri" pitchFamily="34" charset="0"/>
                <a:ea typeface="Calibri" pitchFamily="34" charset="-122"/>
                <a:cs typeface="Calibri" pitchFamily="34" charset="-120"/>
              </a:rPr>
              <a:t>WAPE 25.7%  MAE 3.43</a:t>
            </a:r>
            <a:endParaRPr lang="en-US" sz="900" dirty="0"/>
          </a:p>
        </p:txBody>
      </p:sp>
      <p:sp>
        <p:nvSpPr>
          <p:cNvPr id="26" name="Shape 23"/>
          <p:cNvSpPr/>
          <p:nvPr/>
        </p:nvSpPr>
        <p:spPr>
          <a:xfrm>
            <a:off x="5925312" y="4279392"/>
            <a:ext cx="2688336" cy="365760"/>
          </a:xfrm>
          <a:prstGeom prst="roundRect">
            <a:avLst>
              <a:gd name="adj" fmla="val 15000"/>
            </a:avLst>
          </a:prstGeom>
          <a:solidFill>
            <a:srgbClr val="FFFFFF"/>
          </a:solidFill>
          <a:ln/>
        </p:spPr>
        <p:txBody>
          <a:bodyPr/>
          <a:lstStyle/>
          <a:p>
            <a:endParaRPr lang="es-CO"/>
          </a:p>
        </p:txBody>
      </p:sp>
      <p:sp>
        <p:nvSpPr>
          <p:cNvPr id="27" name="Text 24"/>
          <p:cNvSpPr/>
          <p:nvPr/>
        </p:nvSpPr>
        <p:spPr>
          <a:xfrm>
            <a:off x="6016752" y="4325112"/>
            <a:ext cx="1371600" cy="274320"/>
          </a:xfrm>
          <a:prstGeom prst="rect">
            <a:avLst/>
          </a:prstGeom>
          <a:noFill/>
          <a:ln/>
        </p:spPr>
        <p:txBody>
          <a:bodyPr wrap="square" lIns="0" tIns="0" rIns="0" bIns="0" rtlCol="0" anchor="ctr"/>
          <a:lstStyle/>
          <a:p>
            <a:pPr marL="0" indent="0">
              <a:buNone/>
            </a:pPr>
            <a:r>
              <a:rPr lang="en-US" sz="900" dirty="0">
                <a:solidFill>
                  <a:srgbClr val="444444"/>
                </a:solidFill>
                <a:latin typeface="Calibri" pitchFamily="34" charset="0"/>
                <a:ea typeface="Calibri" pitchFamily="34" charset="-122"/>
                <a:cs typeface="Calibri" pitchFamily="34" charset="-120"/>
              </a:rPr>
              <a:t>Fold 3  25–31 mar</a:t>
            </a:r>
            <a:endParaRPr lang="en-US" sz="900" dirty="0"/>
          </a:p>
        </p:txBody>
      </p:sp>
      <p:sp>
        <p:nvSpPr>
          <p:cNvPr id="28" name="Text 25"/>
          <p:cNvSpPr/>
          <p:nvPr/>
        </p:nvSpPr>
        <p:spPr>
          <a:xfrm>
            <a:off x="7205472" y="4325112"/>
            <a:ext cx="1325880" cy="274320"/>
          </a:xfrm>
          <a:prstGeom prst="rect">
            <a:avLst/>
          </a:prstGeom>
          <a:noFill/>
          <a:ln/>
        </p:spPr>
        <p:txBody>
          <a:bodyPr wrap="square" lIns="0" tIns="0" rIns="0" bIns="0" rtlCol="0" anchor="ctr"/>
          <a:lstStyle/>
          <a:p>
            <a:pPr marL="0" indent="0" algn="r">
              <a:buNone/>
            </a:pPr>
            <a:r>
              <a:rPr lang="en-US" sz="900" b="1" dirty="0">
                <a:solidFill>
                  <a:srgbClr val="5C7A3E"/>
                </a:solidFill>
                <a:latin typeface="Calibri" pitchFamily="34" charset="0"/>
                <a:ea typeface="Calibri" pitchFamily="34" charset="-122"/>
                <a:cs typeface="Calibri" pitchFamily="34" charset="-120"/>
              </a:rPr>
              <a:t>WAPE 26.2%  MAE 3.50</a:t>
            </a:r>
            <a:endParaRPr lang="en-US" sz="900" dirty="0"/>
          </a:p>
        </p:txBody>
      </p:sp>
      <p:sp>
        <p:nvSpPr>
          <p:cNvPr id="29" name="Text 26"/>
          <p:cNvSpPr/>
          <p:nvPr/>
        </p:nvSpPr>
        <p:spPr>
          <a:xfrm>
            <a:off x="5943600" y="4754880"/>
            <a:ext cx="2651760" cy="201168"/>
          </a:xfrm>
          <a:prstGeom prst="rect">
            <a:avLst/>
          </a:prstGeom>
          <a:noFill/>
          <a:ln/>
        </p:spPr>
        <p:txBody>
          <a:bodyPr wrap="square" lIns="0" tIns="0" rIns="0" bIns="0" rtlCol="0" anchor="ctr"/>
          <a:lstStyle/>
          <a:p>
            <a:pPr marL="0" indent="0">
              <a:buNone/>
            </a:pPr>
            <a:r>
              <a:rPr lang="en-US" sz="850" i="1" dirty="0">
                <a:solidFill>
                  <a:srgbClr val="5C7A3E"/>
                </a:solidFill>
                <a:latin typeface="Calibri" pitchFamily="34" charset="0"/>
                <a:ea typeface="Calibri" pitchFamily="34" charset="-122"/>
                <a:cs typeface="Calibri" pitchFamily="34" charset="-120"/>
              </a:rPr>
              <a:t>Consistencia entre folds = sin overfitting</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C1A0A"/>
        </a:solidFill>
        <a:effectLst/>
      </p:bgPr>
    </p:bg>
    <p:spTree>
      <p:nvGrpSpPr>
        <p:cNvPr id="1" name=""/>
        <p:cNvGrpSpPr/>
        <p:nvPr/>
      </p:nvGrpSpPr>
      <p:grpSpPr>
        <a:xfrm>
          <a:off x="0" y="0"/>
          <a:ext cx="0" cy="0"/>
          <a:chOff x="0" y="0"/>
          <a:chExt cx="0" cy="0"/>
        </a:xfrm>
      </p:grpSpPr>
      <p:sp>
        <p:nvSpPr>
          <p:cNvPr id="2" name="Text 0"/>
          <p:cNvSpPr/>
          <p:nvPr/>
        </p:nvSpPr>
        <p:spPr>
          <a:xfrm>
            <a:off x="411480" y="274320"/>
            <a:ext cx="8321040" cy="256032"/>
          </a:xfrm>
          <a:prstGeom prst="rect">
            <a:avLst/>
          </a:prstGeom>
          <a:noFill/>
          <a:ln/>
        </p:spPr>
        <p:txBody>
          <a:bodyPr wrap="square" lIns="0" tIns="0" rIns="0" bIns="0" rtlCol="0" anchor="ctr"/>
          <a:lstStyle/>
          <a:p>
            <a:pPr marL="0" indent="0">
              <a:buNone/>
            </a:pPr>
            <a:r>
              <a:rPr lang="en-US" sz="900" b="1" kern="0" spc="500" dirty="0">
                <a:solidFill>
                  <a:srgbClr val="C8942A"/>
                </a:solidFill>
                <a:latin typeface="Calibri" pitchFamily="34" charset="0"/>
                <a:ea typeface="Calibri" pitchFamily="34" charset="-122"/>
                <a:cs typeface="Calibri" pitchFamily="34" charset="-120"/>
              </a:rPr>
              <a:t>CONCLUSIONES</a:t>
            </a:r>
            <a:endParaRPr lang="en-US" sz="900" dirty="0"/>
          </a:p>
        </p:txBody>
      </p:sp>
      <p:sp>
        <p:nvSpPr>
          <p:cNvPr id="3" name="Text 1"/>
          <p:cNvSpPr/>
          <p:nvPr/>
        </p:nvSpPr>
        <p:spPr>
          <a:xfrm>
            <a:off x="411480" y="502920"/>
            <a:ext cx="8321040" cy="566928"/>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Lo que logramos y lo que sigue</a:t>
            </a:r>
            <a:endParaRPr lang="en-US" sz="2800" dirty="0"/>
          </a:p>
        </p:txBody>
      </p:sp>
      <p:sp>
        <p:nvSpPr>
          <p:cNvPr id="4" name="Text 2"/>
          <p:cNvSpPr/>
          <p:nvPr/>
        </p:nvSpPr>
        <p:spPr>
          <a:xfrm>
            <a:off x="411480" y="1261872"/>
            <a:ext cx="3931920" cy="365760"/>
          </a:xfrm>
          <a:prstGeom prst="rect">
            <a:avLst/>
          </a:prstGeom>
          <a:noFill/>
          <a:ln/>
        </p:spPr>
        <p:txBody>
          <a:bodyPr wrap="square" lIns="0" tIns="0" rIns="0" bIns="0" rtlCol="0" anchor="ctr"/>
          <a:lstStyle/>
          <a:p>
            <a:pPr marL="0" indent="0">
              <a:buNone/>
            </a:pPr>
            <a:r>
              <a:rPr lang="en-US" sz="1300" b="1" dirty="0">
                <a:solidFill>
                  <a:srgbClr val="C8942A"/>
                </a:solidFill>
                <a:latin typeface="Calibri" pitchFamily="34" charset="0"/>
                <a:ea typeface="Calibri" pitchFamily="34" charset="-122"/>
                <a:cs typeface="Calibri" pitchFamily="34" charset="-120"/>
              </a:rPr>
              <a:t>✔  Logros del proyecto</a:t>
            </a:r>
            <a:endParaRPr lang="en-US" sz="1300" dirty="0"/>
          </a:p>
        </p:txBody>
      </p:sp>
      <p:sp>
        <p:nvSpPr>
          <p:cNvPr id="5" name="Shape 3"/>
          <p:cNvSpPr/>
          <p:nvPr/>
        </p:nvSpPr>
        <p:spPr>
          <a:xfrm>
            <a:off x="411480" y="1719072"/>
            <a:ext cx="3931920" cy="932688"/>
          </a:xfrm>
          <a:prstGeom prst="roundRect">
            <a:avLst>
              <a:gd name="adj" fmla="val 7843"/>
            </a:avLst>
          </a:prstGeom>
          <a:solidFill>
            <a:srgbClr val="2C1A0A"/>
          </a:solidFill>
          <a:ln w="12700">
            <a:solidFill>
              <a:srgbClr val="C8942A">
                <a:alpha val="40000"/>
              </a:srgbClr>
            </a:solidFill>
            <a:prstDash val="solid"/>
          </a:ln>
        </p:spPr>
        <p:txBody>
          <a:bodyPr/>
          <a:lstStyle/>
          <a:p>
            <a:endParaRPr lang="es-CO"/>
          </a:p>
        </p:txBody>
      </p:sp>
      <p:sp>
        <p:nvSpPr>
          <p:cNvPr id="6" name="Text 4"/>
          <p:cNvSpPr/>
          <p:nvPr/>
        </p:nvSpPr>
        <p:spPr>
          <a:xfrm>
            <a:off x="566928" y="1792224"/>
            <a:ext cx="3621024" cy="310896"/>
          </a:xfrm>
          <a:prstGeom prst="rect">
            <a:avLst/>
          </a:prstGeom>
          <a:noFill/>
          <a:ln/>
        </p:spPr>
        <p:txBody>
          <a:bodyPr wrap="square" lIns="0" tIns="0" rIns="0" bIns="0" rtlCol="0" anchor="ctr"/>
          <a:lstStyle/>
          <a:p>
            <a:pPr marL="0" indent="0">
              <a:buNone/>
            </a:pPr>
            <a:r>
              <a:rPr lang="en-US" sz="1150" b="1" dirty="0">
                <a:solidFill>
                  <a:srgbClr val="C8942A"/>
                </a:solidFill>
                <a:latin typeface="Calibri" pitchFamily="34" charset="0"/>
                <a:ea typeface="Calibri" pitchFamily="34" charset="-122"/>
                <a:cs typeface="Calibri" pitchFamily="34" charset="-120"/>
              </a:rPr>
              <a:t>Modelo global con historia corta</a:t>
            </a:r>
            <a:endParaRPr lang="en-US" sz="1150" dirty="0"/>
          </a:p>
        </p:txBody>
      </p:sp>
      <p:sp>
        <p:nvSpPr>
          <p:cNvPr id="7" name="Text 5"/>
          <p:cNvSpPr/>
          <p:nvPr/>
        </p:nvSpPr>
        <p:spPr>
          <a:xfrm>
            <a:off x="566928" y="2103120"/>
            <a:ext cx="3621024" cy="475488"/>
          </a:xfrm>
          <a:prstGeom prst="rect">
            <a:avLst/>
          </a:prstGeom>
          <a:noFill/>
          <a:ln/>
        </p:spPr>
        <p:txBody>
          <a:bodyPr wrap="square" lIns="0" tIns="0" rIns="0" bIns="0" rtlCol="0" anchor="ctr"/>
          <a:lstStyle/>
          <a:p>
            <a:pPr marL="0" indent="0">
              <a:buNone/>
            </a:pPr>
            <a:r>
              <a:rPr lang="en-US" sz="1000" dirty="0" err="1">
                <a:solidFill>
                  <a:srgbClr val="C4A882"/>
                </a:solidFill>
                <a:latin typeface="Calibri" pitchFamily="34" charset="0"/>
                <a:ea typeface="Calibri" pitchFamily="34" charset="-122"/>
                <a:cs typeface="Calibri" pitchFamily="34" charset="-120"/>
              </a:rPr>
              <a:t>LightGBM</a:t>
            </a:r>
            <a:r>
              <a:rPr lang="en-US" sz="1000" dirty="0">
                <a:solidFill>
                  <a:srgbClr val="C4A882"/>
                </a:solidFill>
                <a:latin typeface="Calibri" pitchFamily="34" charset="0"/>
                <a:ea typeface="Calibri" pitchFamily="34" charset="-122"/>
                <a:cs typeface="Calibri" pitchFamily="34" charset="-120"/>
              </a:rPr>
              <a:t> </a:t>
            </a:r>
            <a:r>
              <a:rPr lang="en-US" sz="1000" dirty="0" err="1">
                <a:solidFill>
                  <a:srgbClr val="C4A882"/>
                </a:solidFill>
                <a:latin typeface="Calibri" pitchFamily="34" charset="0"/>
                <a:ea typeface="Calibri" pitchFamily="34" charset="-122"/>
                <a:cs typeface="Calibri" pitchFamily="34" charset="-120"/>
              </a:rPr>
              <a:t>actúa</a:t>
            </a:r>
            <a:r>
              <a:rPr lang="en-US" sz="1000" dirty="0">
                <a:solidFill>
                  <a:srgbClr val="C4A882"/>
                </a:solidFill>
                <a:latin typeface="Calibri" pitchFamily="34" charset="0"/>
                <a:ea typeface="Calibri" pitchFamily="34" charset="-122"/>
                <a:cs typeface="Calibri" pitchFamily="34" charset="-120"/>
              </a:rPr>
              <a:t> sobre 160 series supera la </a:t>
            </a:r>
            <a:r>
              <a:rPr lang="en-US" sz="1000" dirty="0" err="1">
                <a:solidFill>
                  <a:srgbClr val="C4A882"/>
                </a:solidFill>
                <a:latin typeface="Calibri" pitchFamily="34" charset="0"/>
                <a:ea typeface="Calibri" pitchFamily="34" charset="-122"/>
                <a:cs typeface="Calibri" pitchFamily="34" charset="-120"/>
              </a:rPr>
              <a:t>limitación</a:t>
            </a:r>
            <a:r>
              <a:rPr lang="en-US" sz="1000" dirty="0">
                <a:solidFill>
                  <a:srgbClr val="C4A882"/>
                </a:solidFill>
                <a:latin typeface="Calibri" pitchFamily="34" charset="0"/>
                <a:ea typeface="Calibri" pitchFamily="34" charset="-122"/>
                <a:cs typeface="Calibri" pitchFamily="34" charset="-120"/>
              </a:rPr>
              <a:t> de solo 13 semanas de datos por SKU.</a:t>
            </a:r>
            <a:endParaRPr lang="en-US" sz="1000" dirty="0"/>
          </a:p>
        </p:txBody>
      </p:sp>
      <p:sp>
        <p:nvSpPr>
          <p:cNvPr id="8" name="Shape 6"/>
          <p:cNvSpPr/>
          <p:nvPr/>
        </p:nvSpPr>
        <p:spPr>
          <a:xfrm>
            <a:off x="411480" y="2743200"/>
            <a:ext cx="3931920" cy="932688"/>
          </a:xfrm>
          <a:prstGeom prst="roundRect">
            <a:avLst>
              <a:gd name="adj" fmla="val 7843"/>
            </a:avLst>
          </a:prstGeom>
          <a:solidFill>
            <a:srgbClr val="2C1A0A"/>
          </a:solidFill>
          <a:ln w="12700">
            <a:solidFill>
              <a:srgbClr val="C8942A">
                <a:alpha val="40000"/>
              </a:srgbClr>
            </a:solidFill>
            <a:prstDash val="solid"/>
          </a:ln>
        </p:spPr>
        <p:txBody>
          <a:bodyPr/>
          <a:lstStyle/>
          <a:p>
            <a:endParaRPr lang="es-CO"/>
          </a:p>
        </p:txBody>
      </p:sp>
      <p:sp>
        <p:nvSpPr>
          <p:cNvPr id="9" name="Text 7"/>
          <p:cNvSpPr/>
          <p:nvPr/>
        </p:nvSpPr>
        <p:spPr>
          <a:xfrm>
            <a:off x="566928" y="2816352"/>
            <a:ext cx="3621024" cy="310896"/>
          </a:xfrm>
          <a:prstGeom prst="rect">
            <a:avLst/>
          </a:prstGeom>
          <a:noFill/>
          <a:ln/>
        </p:spPr>
        <p:txBody>
          <a:bodyPr wrap="square" lIns="0" tIns="0" rIns="0" bIns="0" rtlCol="0" anchor="ctr"/>
          <a:lstStyle/>
          <a:p>
            <a:pPr marL="0" indent="0">
              <a:buNone/>
            </a:pPr>
            <a:r>
              <a:rPr lang="en-US" sz="1150" b="1" dirty="0">
                <a:solidFill>
                  <a:srgbClr val="C8942A"/>
                </a:solidFill>
                <a:latin typeface="Calibri" pitchFamily="34" charset="0"/>
                <a:ea typeface="Calibri" pitchFamily="34" charset="-122"/>
                <a:cs typeface="Calibri" pitchFamily="34" charset="-120"/>
              </a:rPr>
              <a:t>Incertidumbre como insumo de </a:t>
            </a:r>
            <a:r>
              <a:rPr lang="en-US" sz="1150" b="1" dirty="0" err="1">
                <a:solidFill>
                  <a:srgbClr val="C8942A"/>
                </a:solidFill>
                <a:latin typeface="Calibri" pitchFamily="34" charset="0"/>
                <a:ea typeface="Calibri" pitchFamily="34" charset="-122"/>
                <a:cs typeface="Calibri" pitchFamily="34" charset="-120"/>
              </a:rPr>
              <a:t>decisión</a:t>
            </a:r>
            <a:endParaRPr lang="en-US" sz="1150" dirty="0"/>
          </a:p>
        </p:txBody>
      </p:sp>
      <p:sp>
        <p:nvSpPr>
          <p:cNvPr id="10" name="Text 8"/>
          <p:cNvSpPr/>
          <p:nvPr/>
        </p:nvSpPr>
        <p:spPr>
          <a:xfrm>
            <a:off x="566928" y="3127248"/>
            <a:ext cx="3621024" cy="475488"/>
          </a:xfrm>
          <a:prstGeom prst="rect">
            <a:avLst/>
          </a:prstGeom>
          <a:noFill/>
          <a:ln/>
        </p:spPr>
        <p:txBody>
          <a:bodyPr wrap="square" lIns="0" tIns="0" rIns="0" bIns="0" rtlCol="0" anchor="ctr"/>
          <a:lstStyle/>
          <a:p>
            <a:pPr marL="0" indent="0">
              <a:buNone/>
            </a:pPr>
            <a:r>
              <a:rPr lang="en-US" sz="1000" dirty="0">
                <a:solidFill>
                  <a:srgbClr val="C4A882"/>
                </a:solidFill>
                <a:latin typeface="Calibri" pitchFamily="34" charset="0"/>
                <a:ea typeface="Calibri" pitchFamily="34" charset="-122"/>
                <a:cs typeface="Calibri" pitchFamily="34" charset="-120"/>
              </a:rPr>
              <a:t>Los cuantiles p10/p50/p90 no son solo intervalos — alimentan directamente el </a:t>
            </a:r>
            <a:r>
              <a:rPr lang="en-US" sz="1000" dirty="0" err="1">
                <a:solidFill>
                  <a:srgbClr val="C4A882"/>
                </a:solidFill>
                <a:latin typeface="Calibri" pitchFamily="34" charset="0"/>
                <a:ea typeface="Calibri" pitchFamily="34" charset="-122"/>
                <a:cs typeface="Calibri" pitchFamily="34" charset="-120"/>
              </a:rPr>
              <a:t>cálculo</a:t>
            </a:r>
            <a:r>
              <a:rPr lang="en-US" sz="1000" dirty="0">
                <a:solidFill>
                  <a:srgbClr val="C4A882"/>
                </a:solidFill>
                <a:latin typeface="Calibri" pitchFamily="34" charset="0"/>
                <a:ea typeface="Calibri" pitchFamily="34" charset="-122"/>
                <a:cs typeface="Calibri" pitchFamily="34" charset="-120"/>
              </a:rPr>
              <a:t> de </a:t>
            </a:r>
            <a:r>
              <a:rPr lang="en-US" sz="1000" dirty="0" err="1">
                <a:solidFill>
                  <a:srgbClr val="C4A882"/>
                </a:solidFill>
                <a:latin typeface="Calibri" pitchFamily="34" charset="0"/>
                <a:ea typeface="Calibri" pitchFamily="34" charset="-122"/>
                <a:cs typeface="Calibri" pitchFamily="34" charset="-120"/>
              </a:rPr>
              <a:t>pedido</a:t>
            </a:r>
            <a:r>
              <a:rPr lang="en-US" sz="1000" dirty="0">
                <a:solidFill>
                  <a:srgbClr val="C4A882"/>
                </a:solidFill>
                <a:latin typeface="Calibri" pitchFamily="34" charset="0"/>
                <a:ea typeface="Calibri" pitchFamily="34" charset="-122"/>
                <a:cs typeface="Calibri" pitchFamily="34" charset="-120"/>
              </a:rPr>
              <a:t> </a:t>
            </a:r>
            <a:r>
              <a:rPr lang="en-US" sz="1000" dirty="0" err="1">
                <a:solidFill>
                  <a:srgbClr val="C4A882"/>
                </a:solidFill>
                <a:latin typeface="Calibri" pitchFamily="34" charset="0"/>
                <a:ea typeface="Calibri" pitchFamily="34" charset="-122"/>
                <a:cs typeface="Calibri" pitchFamily="34" charset="-120"/>
              </a:rPr>
              <a:t>óptimo</a:t>
            </a:r>
            <a:r>
              <a:rPr lang="en-US" sz="1000" dirty="0">
                <a:solidFill>
                  <a:srgbClr val="C4A882"/>
                </a:solidFill>
                <a:latin typeface="Calibri" pitchFamily="34" charset="0"/>
                <a:ea typeface="Calibri" pitchFamily="34" charset="-122"/>
                <a:cs typeface="Calibri" pitchFamily="34" charset="-120"/>
              </a:rPr>
              <a:t>.</a:t>
            </a:r>
            <a:endParaRPr lang="en-US" sz="1000" dirty="0"/>
          </a:p>
        </p:txBody>
      </p:sp>
      <p:sp>
        <p:nvSpPr>
          <p:cNvPr id="11" name="Shape 9"/>
          <p:cNvSpPr/>
          <p:nvPr/>
        </p:nvSpPr>
        <p:spPr>
          <a:xfrm>
            <a:off x="411480" y="3767328"/>
            <a:ext cx="3931920" cy="932688"/>
          </a:xfrm>
          <a:prstGeom prst="roundRect">
            <a:avLst>
              <a:gd name="adj" fmla="val 7843"/>
            </a:avLst>
          </a:prstGeom>
          <a:solidFill>
            <a:srgbClr val="2C1A0A"/>
          </a:solidFill>
          <a:ln w="12700">
            <a:solidFill>
              <a:srgbClr val="C8942A">
                <a:alpha val="40000"/>
              </a:srgbClr>
            </a:solidFill>
            <a:prstDash val="solid"/>
          </a:ln>
        </p:spPr>
        <p:txBody>
          <a:bodyPr/>
          <a:lstStyle/>
          <a:p>
            <a:endParaRPr lang="es-CO"/>
          </a:p>
        </p:txBody>
      </p:sp>
      <p:sp>
        <p:nvSpPr>
          <p:cNvPr id="12" name="Text 10"/>
          <p:cNvSpPr/>
          <p:nvPr/>
        </p:nvSpPr>
        <p:spPr>
          <a:xfrm>
            <a:off x="566928" y="3840480"/>
            <a:ext cx="3621024" cy="310896"/>
          </a:xfrm>
          <a:prstGeom prst="rect">
            <a:avLst/>
          </a:prstGeom>
          <a:noFill/>
          <a:ln/>
        </p:spPr>
        <p:txBody>
          <a:bodyPr wrap="square" lIns="0" tIns="0" rIns="0" bIns="0" rtlCol="0" anchor="ctr"/>
          <a:lstStyle/>
          <a:p>
            <a:pPr marL="0" indent="0">
              <a:buNone/>
            </a:pPr>
            <a:r>
              <a:rPr lang="en-US" sz="1150" b="1" dirty="0">
                <a:solidFill>
                  <a:srgbClr val="C8942A"/>
                </a:solidFill>
                <a:latin typeface="Calibri" pitchFamily="34" charset="0"/>
                <a:ea typeface="Calibri" pitchFamily="34" charset="-122"/>
                <a:cs typeface="Calibri" pitchFamily="34" charset="-120"/>
              </a:rPr>
              <a:t>Impacto de negocio cuantificado</a:t>
            </a:r>
            <a:endParaRPr lang="en-US" sz="1150" dirty="0"/>
          </a:p>
        </p:txBody>
      </p:sp>
      <p:sp>
        <p:nvSpPr>
          <p:cNvPr id="13" name="Text 11"/>
          <p:cNvSpPr/>
          <p:nvPr/>
        </p:nvSpPr>
        <p:spPr>
          <a:xfrm>
            <a:off x="566928" y="4151376"/>
            <a:ext cx="3621024" cy="475488"/>
          </a:xfrm>
          <a:prstGeom prst="rect">
            <a:avLst/>
          </a:prstGeom>
          <a:noFill/>
          <a:ln/>
        </p:spPr>
        <p:txBody>
          <a:bodyPr wrap="square" lIns="0" tIns="0" rIns="0" bIns="0" rtlCol="0" anchor="ctr"/>
          <a:lstStyle/>
          <a:p>
            <a:pPr marL="0" indent="0">
              <a:buNone/>
            </a:pPr>
            <a:r>
              <a:rPr lang="en-US" sz="1000" dirty="0">
                <a:solidFill>
                  <a:srgbClr val="C4A882"/>
                </a:solidFill>
                <a:latin typeface="Calibri" pitchFamily="34" charset="0"/>
                <a:ea typeface="Calibri" pitchFamily="34" charset="-122"/>
                <a:cs typeface="Calibri" pitchFamily="34" charset="-120"/>
              </a:rPr>
              <a:t>La </a:t>
            </a:r>
            <a:r>
              <a:rPr lang="en-US" sz="1000" dirty="0" err="1">
                <a:solidFill>
                  <a:srgbClr val="C4A882"/>
                </a:solidFill>
                <a:latin typeface="Calibri" pitchFamily="34" charset="0"/>
                <a:ea typeface="Calibri" pitchFamily="34" charset="-122"/>
                <a:cs typeface="Calibri" pitchFamily="34" charset="-120"/>
              </a:rPr>
              <a:t>politica</a:t>
            </a:r>
            <a:r>
              <a:rPr lang="en-US" sz="1000" dirty="0">
                <a:solidFill>
                  <a:srgbClr val="C4A882"/>
                </a:solidFill>
                <a:latin typeface="Calibri" pitchFamily="34" charset="0"/>
                <a:ea typeface="Calibri" pitchFamily="34" charset="-122"/>
                <a:cs typeface="Calibri" pitchFamily="34" charset="-120"/>
              </a:rPr>
              <a:t> “Newsvendor” reduce el costo esperado vs. la politica naive, con ahorro estimado de $220M COP/año.</a:t>
            </a:r>
            <a:endParaRPr lang="en-US" sz="1000" dirty="0"/>
          </a:p>
        </p:txBody>
      </p:sp>
      <p:sp>
        <p:nvSpPr>
          <p:cNvPr id="14" name="Text 12"/>
          <p:cNvSpPr/>
          <p:nvPr/>
        </p:nvSpPr>
        <p:spPr>
          <a:xfrm>
            <a:off x="4754880" y="1261872"/>
            <a:ext cx="3977640" cy="365760"/>
          </a:xfrm>
          <a:prstGeom prst="rect">
            <a:avLst/>
          </a:prstGeom>
          <a:noFill/>
          <a:ln/>
        </p:spPr>
        <p:txBody>
          <a:bodyPr wrap="square" lIns="0" tIns="0" rIns="0" bIns="0" rtlCol="0" anchor="ctr"/>
          <a:lstStyle/>
          <a:p>
            <a:pPr marL="0" indent="0">
              <a:buNone/>
            </a:pPr>
            <a:r>
              <a:rPr lang="en-US" sz="1300" b="1" dirty="0">
                <a:solidFill>
                  <a:srgbClr val="C8942A"/>
                </a:solidFill>
                <a:latin typeface="Calibri" pitchFamily="34" charset="0"/>
                <a:ea typeface="Calibri" pitchFamily="34" charset="-122"/>
                <a:cs typeface="Calibri" pitchFamily="34" charset="-120"/>
              </a:rPr>
              <a:t>→  Proximos pasos</a:t>
            </a:r>
            <a:endParaRPr lang="en-US" sz="1300" dirty="0"/>
          </a:p>
        </p:txBody>
      </p:sp>
      <p:sp>
        <p:nvSpPr>
          <p:cNvPr id="15" name="Shape 13"/>
          <p:cNvSpPr/>
          <p:nvPr/>
        </p:nvSpPr>
        <p:spPr>
          <a:xfrm>
            <a:off x="4754880" y="1719072"/>
            <a:ext cx="3977640" cy="932688"/>
          </a:xfrm>
          <a:prstGeom prst="roundRect">
            <a:avLst>
              <a:gd name="adj" fmla="val 7843"/>
            </a:avLst>
          </a:prstGeom>
          <a:solidFill>
            <a:srgbClr val="2C1A0A"/>
          </a:solidFill>
          <a:ln w="12700">
            <a:solidFill>
              <a:srgbClr val="FFFFFF">
                <a:alpha val="20000"/>
              </a:srgbClr>
            </a:solidFill>
            <a:prstDash val="solid"/>
          </a:ln>
        </p:spPr>
        <p:txBody>
          <a:bodyPr/>
          <a:lstStyle/>
          <a:p>
            <a:endParaRPr lang="es-CO"/>
          </a:p>
        </p:txBody>
      </p:sp>
      <p:sp>
        <p:nvSpPr>
          <p:cNvPr id="16" name="Shape 14"/>
          <p:cNvSpPr/>
          <p:nvPr/>
        </p:nvSpPr>
        <p:spPr>
          <a:xfrm>
            <a:off x="4846320" y="1956816"/>
            <a:ext cx="347472" cy="347472"/>
          </a:xfrm>
          <a:prstGeom prst="ellipse">
            <a:avLst/>
          </a:prstGeom>
          <a:solidFill>
            <a:srgbClr val="C8942A"/>
          </a:solidFill>
          <a:ln/>
        </p:spPr>
        <p:txBody>
          <a:bodyPr/>
          <a:lstStyle/>
          <a:p>
            <a:endParaRPr lang="es-CO"/>
          </a:p>
        </p:txBody>
      </p:sp>
      <p:sp>
        <p:nvSpPr>
          <p:cNvPr id="17" name="Text 15"/>
          <p:cNvSpPr/>
          <p:nvPr/>
        </p:nvSpPr>
        <p:spPr>
          <a:xfrm>
            <a:off x="4846320" y="1956816"/>
            <a:ext cx="347472" cy="347472"/>
          </a:xfrm>
          <a:prstGeom prst="rect">
            <a:avLst/>
          </a:prstGeom>
          <a:noFill/>
          <a:ln/>
        </p:spPr>
        <p:txBody>
          <a:bodyPr wrap="square" lIns="0" tIns="0" rIns="0" bIns="0" rtlCol="0" anchor="ctr"/>
          <a:lstStyle/>
          <a:p>
            <a:pPr marL="0" indent="0" algn="ctr">
              <a:buNone/>
            </a:pPr>
            <a:r>
              <a:rPr lang="en-US" sz="1200" b="1" dirty="0">
                <a:solidFill>
                  <a:srgbClr val="2C1A0A"/>
                </a:solidFill>
                <a:latin typeface="Cambria" pitchFamily="34" charset="0"/>
                <a:ea typeface="Cambria" pitchFamily="34" charset="-122"/>
                <a:cs typeface="Cambria" pitchFamily="34" charset="-120"/>
              </a:rPr>
              <a:t>1</a:t>
            </a:r>
            <a:endParaRPr lang="en-US" sz="1200" dirty="0"/>
          </a:p>
        </p:txBody>
      </p:sp>
      <p:sp>
        <p:nvSpPr>
          <p:cNvPr id="18" name="Text 16"/>
          <p:cNvSpPr/>
          <p:nvPr/>
        </p:nvSpPr>
        <p:spPr>
          <a:xfrm>
            <a:off x="5303520" y="1792224"/>
            <a:ext cx="3291840" cy="310896"/>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Más historia = mejor modelo</a:t>
            </a:r>
            <a:endParaRPr lang="en-US" sz="1150" dirty="0"/>
          </a:p>
        </p:txBody>
      </p:sp>
      <p:sp>
        <p:nvSpPr>
          <p:cNvPr id="19" name="Text 17"/>
          <p:cNvSpPr/>
          <p:nvPr/>
        </p:nvSpPr>
        <p:spPr>
          <a:xfrm>
            <a:off x="5303520" y="2103120"/>
            <a:ext cx="3291840" cy="475488"/>
          </a:xfrm>
          <a:prstGeom prst="rect">
            <a:avLst/>
          </a:prstGeom>
          <a:noFill/>
          <a:ln/>
        </p:spPr>
        <p:txBody>
          <a:bodyPr wrap="square" lIns="0" tIns="0" rIns="0" bIns="0" rtlCol="0" anchor="ctr"/>
          <a:lstStyle/>
          <a:p>
            <a:pPr marL="0" indent="0">
              <a:buNone/>
            </a:pPr>
            <a:r>
              <a:rPr lang="en-US" sz="1000" dirty="0">
                <a:solidFill>
                  <a:srgbClr val="A08060"/>
                </a:solidFill>
                <a:latin typeface="Calibri" pitchFamily="34" charset="0"/>
                <a:ea typeface="Calibri" pitchFamily="34" charset="-122"/>
                <a:cs typeface="Calibri" pitchFamily="34" charset="-120"/>
              </a:rPr>
              <a:t>Con 6+ meses capturar estacionalidad mensual real y validar la señal de tendencia detectada.</a:t>
            </a:r>
            <a:endParaRPr lang="en-US" sz="1000" dirty="0"/>
          </a:p>
        </p:txBody>
      </p:sp>
      <p:sp>
        <p:nvSpPr>
          <p:cNvPr id="20" name="Shape 18"/>
          <p:cNvSpPr/>
          <p:nvPr/>
        </p:nvSpPr>
        <p:spPr>
          <a:xfrm>
            <a:off x="4754880" y="2743200"/>
            <a:ext cx="3977640" cy="932688"/>
          </a:xfrm>
          <a:prstGeom prst="roundRect">
            <a:avLst>
              <a:gd name="adj" fmla="val 7843"/>
            </a:avLst>
          </a:prstGeom>
          <a:solidFill>
            <a:srgbClr val="2C1A0A"/>
          </a:solidFill>
          <a:ln w="12700">
            <a:solidFill>
              <a:srgbClr val="FFFFFF">
                <a:alpha val="20000"/>
              </a:srgbClr>
            </a:solidFill>
            <a:prstDash val="solid"/>
          </a:ln>
        </p:spPr>
        <p:txBody>
          <a:bodyPr/>
          <a:lstStyle/>
          <a:p>
            <a:endParaRPr lang="es-CO"/>
          </a:p>
        </p:txBody>
      </p:sp>
      <p:sp>
        <p:nvSpPr>
          <p:cNvPr id="21" name="Shape 19"/>
          <p:cNvSpPr/>
          <p:nvPr/>
        </p:nvSpPr>
        <p:spPr>
          <a:xfrm>
            <a:off x="4846320" y="2980944"/>
            <a:ext cx="347472" cy="347472"/>
          </a:xfrm>
          <a:prstGeom prst="ellipse">
            <a:avLst/>
          </a:prstGeom>
          <a:solidFill>
            <a:srgbClr val="C8942A"/>
          </a:solidFill>
          <a:ln/>
        </p:spPr>
        <p:txBody>
          <a:bodyPr/>
          <a:lstStyle/>
          <a:p>
            <a:endParaRPr lang="es-CO"/>
          </a:p>
        </p:txBody>
      </p:sp>
      <p:sp>
        <p:nvSpPr>
          <p:cNvPr id="22" name="Text 20"/>
          <p:cNvSpPr/>
          <p:nvPr/>
        </p:nvSpPr>
        <p:spPr>
          <a:xfrm>
            <a:off x="4846320" y="2980944"/>
            <a:ext cx="347472" cy="347472"/>
          </a:xfrm>
          <a:prstGeom prst="rect">
            <a:avLst/>
          </a:prstGeom>
          <a:noFill/>
          <a:ln/>
        </p:spPr>
        <p:txBody>
          <a:bodyPr wrap="square" lIns="0" tIns="0" rIns="0" bIns="0" rtlCol="0" anchor="ctr"/>
          <a:lstStyle/>
          <a:p>
            <a:pPr marL="0" indent="0" algn="ctr">
              <a:buNone/>
            </a:pPr>
            <a:r>
              <a:rPr lang="en-US" sz="1200" b="1" dirty="0">
                <a:solidFill>
                  <a:srgbClr val="2C1A0A"/>
                </a:solidFill>
                <a:latin typeface="Cambria" pitchFamily="34" charset="0"/>
                <a:ea typeface="Cambria" pitchFamily="34" charset="-122"/>
                <a:cs typeface="Cambria" pitchFamily="34" charset="-120"/>
              </a:rPr>
              <a:t>2</a:t>
            </a:r>
            <a:endParaRPr lang="en-US" sz="1200" dirty="0"/>
          </a:p>
        </p:txBody>
      </p:sp>
      <p:sp>
        <p:nvSpPr>
          <p:cNvPr id="23" name="Text 21"/>
          <p:cNvSpPr/>
          <p:nvPr/>
        </p:nvSpPr>
        <p:spPr>
          <a:xfrm>
            <a:off x="5303520" y="2816352"/>
            <a:ext cx="3291840" cy="310896"/>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Restricciones reales de capacidad</a:t>
            </a:r>
            <a:endParaRPr lang="en-US" sz="1150" dirty="0"/>
          </a:p>
        </p:txBody>
      </p:sp>
      <p:sp>
        <p:nvSpPr>
          <p:cNvPr id="24" name="Text 22"/>
          <p:cNvSpPr/>
          <p:nvPr/>
        </p:nvSpPr>
        <p:spPr>
          <a:xfrm>
            <a:off x="5303520" y="3127248"/>
            <a:ext cx="3291840" cy="475488"/>
          </a:xfrm>
          <a:prstGeom prst="rect">
            <a:avLst/>
          </a:prstGeom>
          <a:noFill/>
          <a:ln/>
        </p:spPr>
        <p:txBody>
          <a:bodyPr wrap="square" lIns="0" tIns="0" rIns="0" bIns="0" rtlCol="0" anchor="ctr"/>
          <a:lstStyle/>
          <a:p>
            <a:pPr marL="0" indent="0">
              <a:buNone/>
            </a:pPr>
            <a:r>
              <a:rPr lang="en-US" sz="1000" dirty="0" err="1">
                <a:solidFill>
                  <a:srgbClr val="A08060"/>
                </a:solidFill>
                <a:latin typeface="Calibri" pitchFamily="34" charset="0"/>
                <a:ea typeface="Calibri" pitchFamily="34" charset="-122"/>
                <a:cs typeface="Calibri" pitchFamily="34" charset="-120"/>
              </a:rPr>
              <a:t>Incorporar</a:t>
            </a:r>
            <a:r>
              <a:rPr lang="en-US" sz="1000" dirty="0">
                <a:solidFill>
                  <a:srgbClr val="A08060"/>
                </a:solidFill>
                <a:latin typeface="Calibri" pitchFamily="34" charset="0"/>
                <a:ea typeface="Calibri" pitchFamily="34" charset="-122"/>
                <a:cs typeface="Calibri" pitchFamily="34" charset="-120"/>
              </a:rPr>
              <a:t> </a:t>
            </a:r>
            <a:r>
              <a:rPr lang="en-US" sz="1000" dirty="0" err="1">
                <a:solidFill>
                  <a:srgbClr val="A08060"/>
                </a:solidFill>
                <a:latin typeface="Calibri" pitchFamily="34" charset="0"/>
                <a:ea typeface="Calibri" pitchFamily="34" charset="-122"/>
                <a:cs typeface="Calibri" pitchFamily="34" charset="-120"/>
              </a:rPr>
              <a:t>límites</a:t>
            </a:r>
            <a:r>
              <a:rPr lang="en-US" sz="1000" dirty="0">
                <a:solidFill>
                  <a:srgbClr val="A08060"/>
                </a:solidFill>
                <a:latin typeface="Calibri" pitchFamily="34" charset="0"/>
                <a:ea typeface="Calibri" pitchFamily="34" charset="-122"/>
                <a:cs typeface="Calibri" pitchFamily="34" charset="-120"/>
              </a:rPr>
              <a:t> de bodega y logistica compartida entre productos en el mismo pedido.</a:t>
            </a:r>
            <a:endParaRPr lang="en-US" sz="1000" dirty="0"/>
          </a:p>
        </p:txBody>
      </p:sp>
      <p:sp>
        <p:nvSpPr>
          <p:cNvPr id="25" name="Shape 23"/>
          <p:cNvSpPr/>
          <p:nvPr/>
        </p:nvSpPr>
        <p:spPr>
          <a:xfrm>
            <a:off x="4754880" y="3767328"/>
            <a:ext cx="3977640" cy="932688"/>
          </a:xfrm>
          <a:prstGeom prst="roundRect">
            <a:avLst>
              <a:gd name="adj" fmla="val 7843"/>
            </a:avLst>
          </a:prstGeom>
          <a:solidFill>
            <a:srgbClr val="2C1A0A"/>
          </a:solidFill>
          <a:ln w="12700">
            <a:solidFill>
              <a:srgbClr val="FFFFFF">
                <a:alpha val="20000"/>
              </a:srgbClr>
            </a:solidFill>
            <a:prstDash val="solid"/>
          </a:ln>
        </p:spPr>
        <p:txBody>
          <a:bodyPr/>
          <a:lstStyle/>
          <a:p>
            <a:endParaRPr lang="es-CO"/>
          </a:p>
        </p:txBody>
      </p:sp>
      <p:sp>
        <p:nvSpPr>
          <p:cNvPr id="26" name="Shape 24"/>
          <p:cNvSpPr/>
          <p:nvPr/>
        </p:nvSpPr>
        <p:spPr>
          <a:xfrm>
            <a:off x="4846320" y="4005072"/>
            <a:ext cx="347472" cy="347472"/>
          </a:xfrm>
          <a:prstGeom prst="ellipse">
            <a:avLst/>
          </a:prstGeom>
          <a:solidFill>
            <a:srgbClr val="C8942A"/>
          </a:solidFill>
          <a:ln/>
        </p:spPr>
        <p:txBody>
          <a:bodyPr/>
          <a:lstStyle/>
          <a:p>
            <a:endParaRPr lang="es-CO"/>
          </a:p>
        </p:txBody>
      </p:sp>
      <p:sp>
        <p:nvSpPr>
          <p:cNvPr id="27" name="Text 25"/>
          <p:cNvSpPr/>
          <p:nvPr/>
        </p:nvSpPr>
        <p:spPr>
          <a:xfrm>
            <a:off x="4846320" y="4005072"/>
            <a:ext cx="347472" cy="347472"/>
          </a:xfrm>
          <a:prstGeom prst="rect">
            <a:avLst/>
          </a:prstGeom>
          <a:noFill/>
          <a:ln/>
        </p:spPr>
        <p:txBody>
          <a:bodyPr wrap="square" lIns="0" tIns="0" rIns="0" bIns="0" rtlCol="0" anchor="ctr"/>
          <a:lstStyle/>
          <a:p>
            <a:pPr marL="0" indent="0" algn="ctr">
              <a:buNone/>
            </a:pPr>
            <a:r>
              <a:rPr lang="en-US" sz="1200" b="1" dirty="0">
                <a:solidFill>
                  <a:srgbClr val="2C1A0A"/>
                </a:solidFill>
                <a:latin typeface="Cambria" pitchFamily="34" charset="0"/>
                <a:ea typeface="Cambria" pitchFamily="34" charset="-122"/>
                <a:cs typeface="Cambria" pitchFamily="34" charset="-120"/>
              </a:rPr>
              <a:t>3</a:t>
            </a:r>
            <a:endParaRPr lang="en-US" sz="1200" dirty="0"/>
          </a:p>
        </p:txBody>
      </p:sp>
      <p:sp>
        <p:nvSpPr>
          <p:cNvPr id="28" name="Text 26"/>
          <p:cNvSpPr/>
          <p:nvPr/>
        </p:nvSpPr>
        <p:spPr>
          <a:xfrm>
            <a:off x="5303520" y="3840480"/>
            <a:ext cx="3291840" cy="310896"/>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Monitoreo </a:t>
            </a:r>
            <a:r>
              <a:rPr lang="en-US" sz="1150" b="1" dirty="0" err="1">
                <a:solidFill>
                  <a:srgbClr val="FFFFFF"/>
                </a:solidFill>
                <a:latin typeface="Calibri" pitchFamily="34" charset="0"/>
                <a:ea typeface="Calibri" pitchFamily="34" charset="-122"/>
                <a:cs typeface="Calibri" pitchFamily="34" charset="-120"/>
              </a:rPr>
              <a:t>en</a:t>
            </a:r>
            <a:r>
              <a:rPr lang="en-US" sz="1150" b="1" dirty="0">
                <a:solidFill>
                  <a:srgbClr val="FFFFFF"/>
                </a:solidFill>
                <a:latin typeface="Calibri" pitchFamily="34" charset="0"/>
                <a:ea typeface="Calibri" pitchFamily="34" charset="-122"/>
                <a:cs typeface="Calibri" pitchFamily="34" charset="-120"/>
              </a:rPr>
              <a:t> </a:t>
            </a:r>
            <a:r>
              <a:rPr lang="en-US" sz="1150" b="1" dirty="0" err="1">
                <a:solidFill>
                  <a:srgbClr val="FFFFFF"/>
                </a:solidFill>
                <a:latin typeface="Calibri" pitchFamily="34" charset="0"/>
                <a:ea typeface="Calibri" pitchFamily="34" charset="-122"/>
                <a:cs typeface="Calibri" pitchFamily="34" charset="-120"/>
              </a:rPr>
              <a:t>producción</a:t>
            </a:r>
            <a:endParaRPr lang="en-US" sz="1150" dirty="0"/>
          </a:p>
        </p:txBody>
      </p:sp>
      <p:sp>
        <p:nvSpPr>
          <p:cNvPr id="29" name="Text 27"/>
          <p:cNvSpPr/>
          <p:nvPr/>
        </p:nvSpPr>
        <p:spPr>
          <a:xfrm>
            <a:off x="5303520" y="4151376"/>
            <a:ext cx="3291840" cy="475488"/>
          </a:xfrm>
          <a:prstGeom prst="rect">
            <a:avLst/>
          </a:prstGeom>
          <a:noFill/>
          <a:ln/>
        </p:spPr>
        <p:txBody>
          <a:bodyPr wrap="square" lIns="0" tIns="0" rIns="0" bIns="0" rtlCol="0" anchor="ctr"/>
          <a:lstStyle/>
          <a:p>
            <a:pPr marL="0" indent="0">
              <a:buNone/>
            </a:pPr>
            <a:r>
              <a:rPr lang="en-US" sz="1000" dirty="0" err="1">
                <a:solidFill>
                  <a:srgbClr val="A08060"/>
                </a:solidFill>
                <a:latin typeface="Calibri" pitchFamily="34" charset="0"/>
                <a:ea typeface="Calibri" pitchFamily="34" charset="-122"/>
                <a:cs typeface="Calibri" pitchFamily="34" charset="-120"/>
              </a:rPr>
              <a:t>Alertas</a:t>
            </a:r>
            <a:r>
              <a:rPr lang="en-US" sz="1000" dirty="0">
                <a:solidFill>
                  <a:srgbClr val="A08060"/>
                </a:solidFill>
                <a:latin typeface="Calibri" pitchFamily="34" charset="0"/>
                <a:ea typeface="Calibri" pitchFamily="34" charset="-122"/>
                <a:cs typeface="Calibri" pitchFamily="34" charset="-120"/>
              </a:rPr>
              <a:t> </a:t>
            </a:r>
            <a:r>
              <a:rPr lang="en-US" sz="1000" dirty="0" err="1">
                <a:solidFill>
                  <a:srgbClr val="A08060"/>
                </a:solidFill>
                <a:latin typeface="Calibri" pitchFamily="34" charset="0"/>
                <a:ea typeface="Calibri" pitchFamily="34" charset="-122"/>
                <a:cs typeface="Calibri" pitchFamily="34" charset="-120"/>
              </a:rPr>
              <a:t>automáticas</a:t>
            </a:r>
            <a:r>
              <a:rPr lang="en-US" sz="1000" dirty="0">
                <a:solidFill>
                  <a:srgbClr val="A08060"/>
                </a:solidFill>
                <a:latin typeface="Calibri" pitchFamily="34" charset="0"/>
                <a:ea typeface="Calibri" pitchFamily="34" charset="-122"/>
                <a:cs typeface="Calibri" pitchFamily="34" charset="-120"/>
              </a:rPr>
              <a:t> cuando el error supere un umbral para re-entrenamiento y auditoria del modelo.</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TotalTime>
  <Words>821</Words>
  <Application>Microsoft Office PowerPoint</Application>
  <PresentationFormat>Presentación en pantalla (16:9)</PresentationFormat>
  <Paragraphs>114</Paragraphs>
  <Slides>5</Slides>
  <Notes>5</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5</vt:i4>
      </vt:variant>
    </vt:vector>
  </HeadingPairs>
  <TitlesOfParts>
    <vt:vector size="9" baseType="lpstr">
      <vt:lpstr>Arial</vt:lpstr>
      <vt:lpstr>Calibri</vt:lpstr>
      <vt:lpstr>Cambria</vt:lpstr>
      <vt:lpstr>Office Theme</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Tostao - Optimizacion de Abastecimiento</dc:title>
  <dc:subject>PptxGenJS Presentation</dc:subject>
  <dc:creator>Lead Data Scientist</dc:creator>
  <cp:lastModifiedBy>Luz Alejandra Gonzalez Rodriguez</cp:lastModifiedBy>
  <cp:revision>3</cp:revision>
  <dcterms:created xsi:type="dcterms:W3CDTF">2026-07-02T03:28:08Z</dcterms:created>
  <dcterms:modified xsi:type="dcterms:W3CDTF">2026-07-02T03:46:31Z</dcterms:modified>
</cp:coreProperties>
</file>